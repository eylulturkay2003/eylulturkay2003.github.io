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58" r:id="rId4"/>
    <p:sldId id="260" r:id="rId5"/>
    <p:sldId id="261" r:id="rId6"/>
    <p:sldId id="270" r:id="rId7"/>
    <p:sldId id="269" r:id="rId8"/>
    <p:sldId id="271" r:id="rId9"/>
  </p:sldIdLst>
  <p:sldSz cx="18288000" cy="10287000"/>
  <p:notesSz cx="6858000" cy="9144000"/>
  <p:embeddedFontLst>
    <p:embeddedFont>
      <p:font typeface="Helvetica World" panose="020B0604020202020204" charset="-128"/>
      <p:regular r:id="rId11"/>
    </p:embeddedFont>
    <p:embeddedFont>
      <p:font typeface="Neue Einstellung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FA3C2-7AE2-440A-AF37-4CE920696A12}" v="31" dt="2026-04-12T00:03:45.0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47219" autoAdjust="0"/>
  </p:normalViewPr>
  <p:slideViewPr>
    <p:cSldViewPr>
      <p:cViewPr varScale="1">
        <p:scale>
          <a:sx n="27" d="100"/>
          <a:sy n="27" d="100"/>
        </p:scale>
        <p:origin x="26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33" d="100"/>
          <a:sy n="33" d="100"/>
        </p:scale>
        <p:origin x="3854" y="10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lul Turkay" userId="ec50d3ee8444ec98" providerId="LiveId" clId="{D44D8142-F35E-4E28-B515-30E70FFDD49D}"/>
    <pc:docChg chg="undo custSel modSld">
      <pc:chgData name="Eylul Turkay" userId="ec50d3ee8444ec98" providerId="LiveId" clId="{D44D8142-F35E-4E28-B515-30E70FFDD49D}" dt="2026-04-13T09:31:34.263" v="238" actId="20577"/>
      <pc:docMkLst>
        <pc:docMk/>
      </pc:docMkLst>
      <pc:sldChg chg="modNotes modNotesTx">
        <pc:chgData name="Eylul Turkay" userId="ec50d3ee8444ec98" providerId="LiveId" clId="{D44D8142-F35E-4E28-B515-30E70FFDD49D}" dt="2026-04-13T08:42:01.610" v="112" actId="5793"/>
        <pc:sldMkLst>
          <pc:docMk/>
          <pc:sldMk cId="0" sldId="258"/>
        </pc:sldMkLst>
      </pc:sldChg>
      <pc:sldChg chg="modNotes modNotesTx">
        <pc:chgData name="Eylul Turkay" userId="ec50d3ee8444ec98" providerId="LiveId" clId="{D44D8142-F35E-4E28-B515-30E70FFDD49D}" dt="2026-04-13T09:31:34.263" v="238" actId="20577"/>
        <pc:sldMkLst>
          <pc:docMk/>
          <pc:sldMk cId="0" sldId="260"/>
        </pc:sldMkLst>
      </pc:sldChg>
      <pc:sldChg chg="modNotes modNotesTx">
        <pc:chgData name="Eylul Turkay" userId="ec50d3ee8444ec98" providerId="LiveId" clId="{D44D8142-F35E-4E28-B515-30E70FFDD49D}" dt="2026-04-13T08:44:16.746" v="167" actId="20577"/>
        <pc:sldMkLst>
          <pc:docMk/>
          <pc:sldMk cId="0" sldId="261"/>
        </pc:sldMkLst>
      </pc:sldChg>
      <pc:sldChg chg="modNotes modNotesTx">
        <pc:chgData name="Eylul Turkay" userId="ec50d3ee8444ec98" providerId="LiveId" clId="{D44D8142-F35E-4E28-B515-30E70FFDD49D}" dt="2026-04-11T23:23:44.577" v="35" actId="20577"/>
        <pc:sldMkLst>
          <pc:docMk/>
          <pc:sldMk cId="1066437492" sldId="267"/>
        </pc:sldMkLst>
      </pc:sldChg>
      <pc:sldChg chg="modNotesTx">
        <pc:chgData name="Eylul Turkay" userId="ec50d3ee8444ec98" providerId="LiveId" clId="{D44D8142-F35E-4E28-B515-30E70FFDD49D}" dt="2026-04-11T23:36:56.534" v="42" actId="20577"/>
        <pc:sldMkLst>
          <pc:docMk/>
          <pc:sldMk cId="3100110660" sldId="269"/>
        </pc:sldMkLst>
      </pc:sldChg>
      <pc:sldChg chg="modNotesTx">
        <pc:chgData name="Eylul Turkay" userId="ec50d3ee8444ec98" providerId="LiveId" clId="{D44D8142-F35E-4E28-B515-30E70FFDD49D}" dt="2026-04-13T08:47:38.303" v="237" actId="20577"/>
        <pc:sldMkLst>
          <pc:docMk/>
          <pc:sldMk cId="1316622817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F3412E-98A8-4988-A1DD-73D653AE50BA}" type="doc">
      <dgm:prSet loTypeId="urn:microsoft.com/office/officeart/2005/8/layout/cycle6" loCatId="cycle" qsTypeId="urn:microsoft.com/office/officeart/2005/8/quickstyle/simple3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804C5FE-012E-4AC6-B0B0-DAA5FAB55D47}">
      <dgm:prSet custT="1"/>
      <dgm:spPr/>
      <dgm:t>
        <a:bodyPr/>
        <a:lstStyle/>
        <a:p>
          <a:r>
            <a:rPr lang="en-GB" sz="24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Data interpretation complexity</a:t>
          </a:r>
          <a:endParaRPr lang="en-US" sz="24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07CB2A7C-AB22-4653-B92F-33B6A9C83392}" type="parTrans" cxnId="{991BB070-2AD7-418C-AB01-DF089F5DFEE2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F7D5D02D-B8AF-4F2A-BD7C-F0D4F29C1841}" type="sibTrans" cxnId="{991BB070-2AD7-418C-AB01-DF089F5DFEE2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E24C98FA-E22C-4533-9ABC-E6EFC6D24656}">
      <dgm:prSet custT="1"/>
      <dgm:spPr/>
      <dgm:t>
        <a:bodyPr/>
        <a:lstStyle/>
        <a:p>
          <a:r>
            <a:rPr lang="en-GB" sz="24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Cost and accessibility issues</a:t>
          </a:r>
          <a:endParaRPr lang="en-US" sz="24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731C148D-53FA-41FB-85CA-02CD66A31463}" type="parTrans" cxnId="{AF67CBA3-3EB3-4AD7-80D9-463763BD9368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E9504D1B-FAB5-4C3A-B995-83477F31A6B9}" type="sibTrans" cxnId="{AF67CBA3-3EB3-4AD7-80D9-463763BD9368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CF2B03B6-F49F-4C73-8D1B-69F1DD6437DE}">
      <dgm:prSet custT="1"/>
      <dgm:spPr/>
      <dgm:t>
        <a:bodyPr/>
        <a:lstStyle/>
        <a:p>
          <a:r>
            <a:rPr lang="en-GB" sz="24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Ethical issues: consent, privacy </a:t>
          </a:r>
          <a:endParaRPr lang="en-US" sz="24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6B5F58ED-E718-4DA2-8E42-CB3A19710AC8}" type="parTrans" cxnId="{D9F87F38-123C-4D12-9EDC-C6429892E2B8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C5857807-13F6-48D4-BEBF-D1ED2F780761}" type="sibTrans" cxnId="{D9F87F38-123C-4D12-9EDC-C6429892E2B8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84122536-1D07-4F3D-9312-560A94C800E0}">
      <dgm:prSet custT="1"/>
      <dgm:spPr/>
      <dgm:t>
        <a:bodyPr/>
        <a:lstStyle/>
        <a:p>
          <a:r>
            <a:rPr lang="en-GB" sz="24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Turnaround time challenges</a:t>
          </a:r>
          <a:endParaRPr lang="en-US" sz="24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8EA619C6-91FC-4764-B620-C5E815DE99DB}" type="parTrans" cxnId="{EA889776-1F8C-48D7-AEBD-FCEF47BEDCA2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C3841E87-CEB3-4A81-AC15-12B02F513E47}" type="sibTrans" cxnId="{EA889776-1F8C-48D7-AEBD-FCEF47BEDCA2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C9376FE3-4219-433A-9578-92846086201B}">
      <dgm:prSet custT="1"/>
      <dgm:spPr/>
      <dgm:t>
        <a:bodyPr/>
        <a:lstStyle/>
        <a:p>
          <a:r>
            <a:rPr lang="en-GB" sz="24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Need for specialised expertise</a:t>
          </a:r>
          <a:endParaRPr lang="en-US" sz="24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DC4C43EF-1C5C-4832-8B3B-7B23EE3A6EBE}" type="parTrans" cxnId="{4FF4CB4E-3AFB-4813-B36D-464C52ACC884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8D65DF96-FF78-4F4C-AE25-5EB798DC362C}" type="sibTrans" cxnId="{4FF4CB4E-3AFB-4813-B36D-464C52ACC884}">
      <dgm:prSet/>
      <dgm:spPr/>
      <dgm:t>
        <a:bodyPr/>
        <a:lstStyle/>
        <a:p>
          <a:endParaRPr lang="en-US" sz="240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gm:t>
    </dgm:pt>
    <dgm:pt modelId="{99A60BAE-FAF2-4266-B5E9-2DC3CD4F22D5}" type="pres">
      <dgm:prSet presAssocID="{B0F3412E-98A8-4988-A1DD-73D653AE50BA}" presName="cycle" presStyleCnt="0">
        <dgm:presLayoutVars>
          <dgm:dir/>
          <dgm:resizeHandles val="exact"/>
        </dgm:presLayoutVars>
      </dgm:prSet>
      <dgm:spPr/>
    </dgm:pt>
    <dgm:pt modelId="{BFB9FC7E-0E97-4E62-8EFF-42F98441CC1E}" type="pres">
      <dgm:prSet presAssocID="{8804C5FE-012E-4AC6-B0B0-DAA5FAB55D47}" presName="node" presStyleLbl="node1" presStyleIdx="0" presStyleCnt="5">
        <dgm:presLayoutVars>
          <dgm:bulletEnabled val="1"/>
        </dgm:presLayoutVars>
      </dgm:prSet>
      <dgm:spPr/>
    </dgm:pt>
    <dgm:pt modelId="{E8C3B4F1-16C8-4938-9373-F11745753618}" type="pres">
      <dgm:prSet presAssocID="{8804C5FE-012E-4AC6-B0B0-DAA5FAB55D47}" presName="spNode" presStyleCnt="0"/>
      <dgm:spPr/>
    </dgm:pt>
    <dgm:pt modelId="{4A2B00E7-601E-41F4-8637-63F2E648FFE7}" type="pres">
      <dgm:prSet presAssocID="{F7D5D02D-B8AF-4F2A-BD7C-F0D4F29C1841}" presName="sibTrans" presStyleLbl="sibTrans1D1" presStyleIdx="0" presStyleCnt="5"/>
      <dgm:spPr/>
    </dgm:pt>
    <dgm:pt modelId="{67E45A1A-58B4-499B-B010-F8D6D9A0F206}" type="pres">
      <dgm:prSet presAssocID="{E24C98FA-E22C-4533-9ABC-E6EFC6D24656}" presName="node" presStyleLbl="node1" presStyleIdx="1" presStyleCnt="5">
        <dgm:presLayoutVars>
          <dgm:bulletEnabled val="1"/>
        </dgm:presLayoutVars>
      </dgm:prSet>
      <dgm:spPr/>
    </dgm:pt>
    <dgm:pt modelId="{5621DECB-D712-4441-A379-7CB5CA016955}" type="pres">
      <dgm:prSet presAssocID="{E24C98FA-E22C-4533-9ABC-E6EFC6D24656}" presName="spNode" presStyleCnt="0"/>
      <dgm:spPr/>
    </dgm:pt>
    <dgm:pt modelId="{C014E484-2133-4B99-8847-1DA63A28DDED}" type="pres">
      <dgm:prSet presAssocID="{E9504D1B-FAB5-4C3A-B995-83477F31A6B9}" presName="sibTrans" presStyleLbl="sibTrans1D1" presStyleIdx="1" presStyleCnt="5"/>
      <dgm:spPr/>
    </dgm:pt>
    <dgm:pt modelId="{56E3BD05-74AC-429A-A589-FBBFB28E262B}" type="pres">
      <dgm:prSet presAssocID="{CF2B03B6-F49F-4C73-8D1B-69F1DD6437DE}" presName="node" presStyleLbl="node1" presStyleIdx="2" presStyleCnt="5">
        <dgm:presLayoutVars>
          <dgm:bulletEnabled val="1"/>
        </dgm:presLayoutVars>
      </dgm:prSet>
      <dgm:spPr/>
    </dgm:pt>
    <dgm:pt modelId="{7EF47F2A-34C8-4EA6-B935-380CC79474CF}" type="pres">
      <dgm:prSet presAssocID="{CF2B03B6-F49F-4C73-8D1B-69F1DD6437DE}" presName="spNode" presStyleCnt="0"/>
      <dgm:spPr/>
    </dgm:pt>
    <dgm:pt modelId="{BBE45340-A434-430C-B2D8-57C82F7A04E0}" type="pres">
      <dgm:prSet presAssocID="{C5857807-13F6-48D4-BEBF-D1ED2F780761}" presName="sibTrans" presStyleLbl="sibTrans1D1" presStyleIdx="2" presStyleCnt="5"/>
      <dgm:spPr/>
    </dgm:pt>
    <dgm:pt modelId="{3CFFD541-A254-4D47-AADA-3D21DDD326EB}" type="pres">
      <dgm:prSet presAssocID="{84122536-1D07-4F3D-9312-560A94C800E0}" presName="node" presStyleLbl="node1" presStyleIdx="3" presStyleCnt="5">
        <dgm:presLayoutVars>
          <dgm:bulletEnabled val="1"/>
        </dgm:presLayoutVars>
      </dgm:prSet>
      <dgm:spPr/>
    </dgm:pt>
    <dgm:pt modelId="{5E308557-CE7C-4FE2-B1C2-78BDF58DF98F}" type="pres">
      <dgm:prSet presAssocID="{84122536-1D07-4F3D-9312-560A94C800E0}" presName="spNode" presStyleCnt="0"/>
      <dgm:spPr/>
    </dgm:pt>
    <dgm:pt modelId="{D87D09C5-FA83-461A-B6A1-10FEEDC48E3A}" type="pres">
      <dgm:prSet presAssocID="{C3841E87-CEB3-4A81-AC15-12B02F513E47}" presName="sibTrans" presStyleLbl="sibTrans1D1" presStyleIdx="3" presStyleCnt="5"/>
      <dgm:spPr/>
    </dgm:pt>
    <dgm:pt modelId="{D98A7E3D-A852-4757-939B-2E6030F3E0DF}" type="pres">
      <dgm:prSet presAssocID="{C9376FE3-4219-433A-9578-92846086201B}" presName="node" presStyleLbl="node1" presStyleIdx="4" presStyleCnt="5">
        <dgm:presLayoutVars>
          <dgm:bulletEnabled val="1"/>
        </dgm:presLayoutVars>
      </dgm:prSet>
      <dgm:spPr/>
    </dgm:pt>
    <dgm:pt modelId="{42ACDEFF-29A2-4F7F-AA9E-171A16BE107A}" type="pres">
      <dgm:prSet presAssocID="{C9376FE3-4219-433A-9578-92846086201B}" presName="spNode" presStyleCnt="0"/>
      <dgm:spPr/>
    </dgm:pt>
    <dgm:pt modelId="{15C9030D-CE93-4FAF-8048-5266EBF286DB}" type="pres">
      <dgm:prSet presAssocID="{8D65DF96-FF78-4F4C-AE25-5EB798DC362C}" presName="sibTrans" presStyleLbl="sibTrans1D1" presStyleIdx="4" presStyleCnt="5"/>
      <dgm:spPr/>
    </dgm:pt>
  </dgm:ptLst>
  <dgm:cxnLst>
    <dgm:cxn modelId="{3BD8BB05-8FDF-40F1-858C-92D149CDF04A}" type="presOf" srcId="{F7D5D02D-B8AF-4F2A-BD7C-F0D4F29C1841}" destId="{4A2B00E7-601E-41F4-8637-63F2E648FFE7}" srcOrd="0" destOrd="0" presId="urn:microsoft.com/office/officeart/2005/8/layout/cycle6"/>
    <dgm:cxn modelId="{D9F87F38-123C-4D12-9EDC-C6429892E2B8}" srcId="{B0F3412E-98A8-4988-A1DD-73D653AE50BA}" destId="{CF2B03B6-F49F-4C73-8D1B-69F1DD6437DE}" srcOrd="2" destOrd="0" parTransId="{6B5F58ED-E718-4DA2-8E42-CB3A19710AC8}" sibTransId="{C5857807-13F6-48D4-BEBF-D1ED2F780761}"/>
    <dgm:cxn modelId="{4FF4CB4E-3AFB-4813-B36D-464C52ACC884}" srcId="{B0F3412E-98A8-4988-A1DD-73D653AE50BA}" destId="{C9376FE3-4219-433A-9578-92846086201B}" srcOrd="4" destOrd="0" parTransId="{DC4C43EF-1C5C-4832-8B3B-7B23EE3A6EBE}" sibTransId="{8D65DF96-FF78-4F4C-AE25-5EB798DC362C}"/>
    <dgm:cxn modelId="{991BB070-2AD7-418C-AB01-DF089F5DFEE2}" srcId="{B0F3412E-98A8-4988-A1DD-73D653AE50BA}" destId="{8804C5FE-012E-4AC6-B0B0-DAA5FAB55D47}" srcOrd="0" destOrd="0" parTransId="{07CB2A7C-AB22-4653-B92F-33B6A9C83392}" sibTransId="{F7D5D02D-B8AF-4F2A-BD7C-F0D4F29C1841}"/>
    <dgm:cxn modelId="{A7B07251-9792-4B11-9606-092A208BF977}" type="presOf" srcId="{CF2B03B6-F49F-4C73-8D1B-69F1DD6437DE}" destId="{56E3BD05-74AC-429A-A589-FBBFB28E262B}" srcOrd="0" destOrd="0" presId="urn:microsoft.com/office/officeart/2005/8/layout/cycle6"/>
    <dgm:cxn modelId="{8DD99F54-AF76-466B-B568-45D906BDB87A}" type="presOf" srcId="{B0F3412E-98A8-4988-A1DD-73D653AE50BA}" destId="{99A60BAE-FAF2-4266-B5E9-2DC3CD4F22D5}" srcOrd="0" destOrd="0" presId="urn:microsoft.com/office/officeart/2005/8/layout/cycle6"/>
    <dgm:cxn modelId="{EA889776-1F8C-48D7-AEBD-FCEF47BEDCA2}" srcId="{B0F3412E-98A8-4988-A1DD-73D653AE50BA}" destId="{84122536-1D07-4F3D-9312-560A94C800E0}" srcOrd="3" destOrd="0" parTransId="{8EA619C6-91FC-4764-B620-C5E815DE99DB}" sibTransId="{C3841E87-CEB3-4A81-AC15-12B02F513E47}"/>
    <dgm:cxn modelId="{B9CAE07C-567B-418C-8E7E-D312273A020A}" type="presOf" srcId="{8804C5FE-012E-4AC6-B0B0-DAA5FAB55D47}" destId="{BFB9FC7E-0E97-4E62-8EFF-42F98441CC1E}" srcOrd="0" destOrd="0" presId="urn:microsoft.com/office/officeart/2005/8/layout/cycle6"/>
    <dgm:cxn modelId="{6648849A-B4CC-4E86-9ABC-CE4803134749}" type="presOf" srcId="{C9376FE3-4219-433A-9578-92846086201B}" destId="{D98A7E3D-A852-4757-939B-2E6030F3E0DF}" srcOrd="0" destOrd="0" presId="urn:microsoft.com/office/officeart/2005/8/layout/cycle6"/>
    <dgm:cxn modelId="{AF67CBA3-3EB3-4AD7-80D9-463763BD9368}" srcId="{B0F3412E-98A8-4988-A1DD-73D653AE50BA}" destId="{E24C98FA-E22C-4533-9ABC-E6EFC6D24656}" srcOrd="1" destOrd="0" parTransId="{731C148D-53FA-41FB-85CA-02CD66A31463}" sibTransId="{E9504D1B-FAB5-4C3A-B995-83477F31A6B9}"/>
    <dgm:cxn modelId="{15766DB2-6569-4141-8339-516976CAB921}" type="presOf" srcId="{C5857807-13F6-48D4-BEBF-D1ED2F780761}" destId="{BBE45340-A434-430C-B2D8-57C82F7A04E0}" srcOrd="0" destOrd="0" presId="urn:microsoft.com/office/officeart/2005/8/layout/cycle6"/>
    <dgm:cxn modelId="{AA6920B3-E6AE-4AC6-8B93-B9682F1E5A86}" type="presOf" srcId="{E24C98FA-E22C-4533-9ABC-E6EFC6D24656}" destId="{67E45A1A-58B4-499B-B010-F8D6D9A0F206}" srcOrd="0" destOrd="0" presId="urn:microsoft.com/office/officeart/2005/8/layout/cycle6"/>
    <dgm:cxn modelId="{628681B7-BF84-4734-9D83-8E4BBD1A8109}" type="presOf" srcId="{C3841E87-CEB3-4A81-AC15-12B02F513E47}" destId="{D87D09C5-FA83-461A-B6A1-10FEEDC48E3A}" srcOrd="0" destOrd="0" presId="urn:microsoft.com/office/officeart/2005/8/layout/cycle6"/>
    <dgm:cxn modelId="{B725E7BB-6D3C-456E-9B3F-49F03B943282}" type="presOf" srcId="{E9504D1B-FAB5-4C3A-B995-83477F31A6B9}" destId="{C014E484-2133-4B99-8847-1DA63A28DDED}" srcOrd="0" destOrd="0" presId="urn:microsoft.com/office/officeart/2005/8/layout/cycle6"/>
    <dgm:cxn modelId="{6CB3FAE3-CA0A-4902-876D-05A089EA4A7D}" type="presOf" srcId="{8D65DF96-FF78-4F4C-AE25-5EB798DC362C}" destId="{15C9030D-CE93-4FAF-8048-5266EBF286DB}" srcOrd="0" destOrd="0" presId="urn:microsoft.com/office/officeart/2005/8/layout/cycle6"/>
    <dgm:cxn modelId="{27E7B2F9-5B25-41E1-A58A-4E1D40F4AB32}" type="presOf" srcId="{84122536-1D07-4F3D-9312-560A94C800E0}" destId="{3CFFD541-A254-4D47-AADA-3D21DDD326EB}" srcOrd="0" destOrd="0" presId="urn:microsoft.com/office/officeart/2005/8/layout/cycle6"/>
    <dgm:cxn modelId="{DAE8A49A-EEA2-4D59-8CE2-37F7DBF38FDF}" type="presParOf" srcId="{99A60BAE-FAF2-4266-B5E9-2DC3CD4F22D5}" destId="{BFB9FC7E-0E97-4E62-8EFF-42F98441CC1E}" srcOrd="0" destOrd="0" presId="urn:microsoft.com/office/officeart/2005/8/layout/cycle6"/>
    <dgm:cxn modelId="{6AF28B69-4CA4-45D2-AFB9-6CA7BF2C95B3}" type="presParOf" srcId="{99A60BAE-FAF2-4266-B5E9-2DC3CD4F22D5}" destId="{E8C3B4F1-16C8-4938-9373-F11745753618}" srcOrd="1" destOrd="0" presId="urn:microsoft.com/office/officeart/2005/8/layout/cycle6"/>
    <dgm:cxn modelId="{9375E9D6-7C70-449B-AA2D-BB7BB895364C}" type="presParOf" srcId="{99A60BAE-FAF2-4266-B5E9-2DC3CD4F22D5}" destId="{4A2B00E7-601E-41F4-8637-63F2E648FFE7}" srcOrd="2" destOrd="0" presId="urn:microsoft.com/office/officeart/2005/8/layout/cycle6"/>
    <dgm:cxn modelId="{90DCC873-FE57-43A6-8873-EDE6ED0B0F9E}" type="presParOf" srcId="{99A60BAE-FAF2-4266-B5E9-2DC3CD4F22D5}" destId="{67E45A1A-58B4-499B-B010-F8D6D9A0F206}" srcOrd="3" destOrd="0" presId="urn:microsoft.com/office/officeart/2005/8/layout/cycle6"/>
    <dgm:cxn modelId="{AF8EF1C0-523C-4373-9878-2D5D2412C2C0}" type="presParOf" srcId="{99A60BAE-FAF2-4266-B5E9-2DC3CD4F22D5}" destId="{5621DECB-D712-4441-A379-7CB5CA016955}" srcOrd="4" destOrd="0" presId="urn:microsoft.com/office/officeart/2005/8/layout/cycle6"/>
    <dgm:cxn modelId="{FE31785F-D517-4273-BCCF-6CDF86A1C741}" type="presParOf" srcId="{99A60BAE-FAF2-4266-B5E9-2DC3CD4F22D5}" destId="{C014E484-2133-4B99-8847-1DA63A28DDED}" srcOrd="5" destOrd="0" presId="urn:microsoft.com/office/officeart/2005/8/layout/cycle6"/>
    <dgm:cxn modelId="{80089D5C-EFBC-429F-BF4D-184D7DBB2BD2}" type="presParOf" srcId="{99A60BAE-FAF2-4266-B5E9-2DC3CD4F22D5}" destId="{56E3BD05-74AC-429A-A589-FBBFB28E262B}" srcOrd="6" destOrd="0" presId="urn:microsoft.com/office/officeart/2005/8/layout/cycle6"/>
    <dgm:cxn modelId="{0B66E685-E739-4E2D-B781-0527D5690C6A}" type="presParOf" srcId="{99A60BAE-FAF2-4266-B5E9-2DC3CD4F22D5}" destId="{7EF47F2A-34C8-4EA6-B935-380CC79474CF}" srcOrd="7" destOrd="0" presId="urn:microsoft.com/office/officeart/2005/8/layout/cycle6"/>
    <dgm:cxn modelId="{983830C5-EC3E-4FF6-A4F4-80E039C28FFD}" type="presParOf" srcId="{99A60BAE-FAF2-4266-B5E9-2DC3CD4F22D5}" destId="{BBE45340-A434-430C-B2D8-57C82F7A04E0}" srcOrd="8" destOrd="0" presId="urn:microsoft.com/office/officeart/2005/8/layout/cycle6"/>
    <dgm:cxn modelId="{4759F8EB-7E9A-4054-B00F-83BC3D771D19}" type="presParOf" srcId="{99A60BAE-FAF2-4266-B5E9-2DC3CD4F22D5}" destId="{3CFFD541-A254-4D47-AADA-3D21DDD326EB}" srcOrd="9" destOrd="0" presId="urn:microsoft.com/office/officeart/2005/8/layout/cycle6"/>
    <dgm:cxn modelId="{04C7A33C-471C-4A30-BA78-C859C11268FE}" type="presParOf" srcId="{99A60BAE-FAF2-4266-B5E9-2DC3CD4F22D5}" destId="{5E308557-CE7C-4FE2-B1C2-78BDF58DF98F}" srcOrd="10" destOrd="0" presId="urn:microsoft.com/office/officeart/2005/8/layout/cycle6"/>
    <dgm:cxn modelId="{E0D9CC2A-3CAE-453F-8745-FE1E3885030D}" type="presParOf" srcId="{99A60BAE-FAF2-4266-B5E9-2DC3CD4F22D5}" destId="{D87D09C5-FA83-461A-B6A1-10FEEDC48E3A}" srcOrd="11" destOrd="0" presId="urn:microsoft.com/office/officeart/2005/8/layout/cycle6"/>
    <dgm:cxn modelId="{45E5C65A-27A5-4CB0-9A37-C1F48D98362D}" type="presParOf" srcId="{99A60BAE-FAF2-4266-B5E9-2DC3CD4F22D5}" destId="{D98A7E3D-A852-4757-939B-2E6030F3E0DF}" srcOrd="12" destOrd="0" presId="urn:microsoft.com/office/officeart/2005/8/layout/cycle6"/>
    <dgm:cxn modelId="{E53068A4-A0E4-4A68-BECD-8B272969B29F}" type="presParOf" srcId="{99A60BAE-FAF2-4266-B5E9-2DC3CD4F22D5}" destId="{42ACDEFF-29A2-4F7F-AA9E-171A16BE107A}" srcOrd="13" destOrd="0" presId="urn:microsoft.com/office/officeart/2005/8/layout/cycle6"/>
    <dgm:cxn modelId="{D4DD12D8-75F5-4297-A465-6D5E12993A28}" type="presParOf" srcId="{99A60BAE-FAF2-4266-B5E9-2DC3CD4F22D5}" destId="{15C9030D-CE93-4FAF-8048-5266EBF286DB}" srcOrd="14" destOrd="0" presId="urn:microsoft.com/office/officeart/2005/8/layout/cycle6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9FC7E-0E97-4E62-8EFF-42F98441CC1E}">
      <dsp:nvSpPr>
        <dsp:cNvPr id="0" name=""/>
        <dsp:cNvSpPr/>
      </dsp:nvSpPr>
      <dsp:spPr>
        <a:xfrm>
          <a:off x="2997421" y="2923"/>
          <a:ext cx="2357156" cy="153215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Data interpretation complexity</a:t>
          </a:r>
          <a:endParaRPr lang="en-US" sz="2400" kern="12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sp:txBody>
      <dsp:txXfrm>
        <a:off x="3072214" y="77716"/>
        <a:ext cx="2207570" cy="1382565"/>
      </dsp:txXfrm>
    </dsp:sp>
    <dsp:sp modelId="{4A2B00E7-601E-41F4-8637-63F2E648FFE7}">
      <dsp:nvSpPr>
        <dsp:cNvPr id="0" name=""/>
        <dsp:cNvSpPr/>
      </dsp:nvSpPr>
      <dsp:spPr>
        <a:xfrm>
          <a:off x="1112318" y="768998"/>
          <a:ext cx="6127363" cy="6127363"/>
        </a:xfrm>
        <a:custGeom>
          <a:avLst/>
          <a:gdLst/>
          <a:ahLst/>
          <a:cxnLst/>
          <a:rect l="0" t="0" r="0" b="0"/>
          <a:pathLst>
            <a:path>
              <a:moveTo>
                <a:pt x="4258485" y="242584"/>
              </a:moveTo>
              <a:arcTo wR="3063681" hR="3063681" stAng="17577231" swAng="1963540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E45A1A-58B4-499B-B010-F8D6D9A0F206}">
      <dsp:nvSpPr>
        <dsp:cNvPr id="0" name=""/>
        <dsp:cNvSpPr/>
      </dsp:nvSpPr>
      <dsp:spPr>
        <a:xfrm>
          <a:off x="5911156" y="2119875"/>
          <a:ext cx="2357156" cy="153215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Cost and accessibility issues</a:t>
          </a:r>
          <a:endParaRPr lang="en-US" sz="2400" kern="12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sp:txBody>
      <dsp:txXfrm>
        <a:off x="5985949" y="2194668"/>
        <a:ext cx="2207570" cy="1382565"/>
      </dsp:txXfrm>
    </dsp:sp>
    <dsp:sp modelId="{C014E484-2133-4B99-8847-1DA63A28DDED}">
      <dsp:nvSpPr>
        <dsp:cNvPr id="0" name=""/>
        <dsp:cNvSpPr/>
      </dsp:nvSpPr>
      <dsp:spPr>
        <a:xfrm>
          <a:off x="1112318" y="768998"/>
          <a:ext cx="6127363" cy="6127363"/>
        </a:xfrm>
        <a:custGeom>
          <a:avLst/>
          <a:gdLst/>
          <a:ahLst/>
          <a:cxnLst/>
          <a:rect l="0" t="0" r="0" b="0"/>
          <a:pathLst>
            <a:path>
              <a:moveTo>
                <a:pt x="6123127" y="2902624"/>
              </a:moveTo>
              <a:arcTo wR="3063681" hR="3063681" stAng="21419195" swAng="2197842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E3BD05-74AC-429A-A589-FBBFB28E262B}">
      <dsp:nvSpPr>
        <dsp:cNvPr id="0" name=""/>
        <dsp:cNvSpPr/>
      </dsp:nvSpPr>
      <dsp:spPr>
        <a:xfrm>
          <a:off x="4798208" y="5545175"/>
          <a:ext cx="2357156" cy="153215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Ethical issues: consent, privacy </a:t>
          </a:r>
          <a:endParaRPr lang="en-US" sz="2400" kern="12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sp:txBody>
      <dsp:txXfrm>
        <a:off x="4873001" y="5619968"/>
        <a:ext cx="2207570" cy="1382565"/>
      </dsp:txXfrm>
    </dsp:sp>
    <dsp:sp modelId="{BBE45340-A434-430C-B2D8-57C82F7A04E0}">
      <dsp:nvSpPr>
        <dsp:cNvPr id="0" name=""/>
        <dsp:cNvSpPr/>
      </dsp:nvSpPr>
      <dsp:spPr>
        <a:xfrm>
          <a:off x="1112318" y="768998"/>
          <a:ext cx="6127363" cy="6127363"/>
        </a:xfrm>
        <a:custGeom>
          <a:avLst/>
          <a:gdLst/>
          <a:ahLst/>
          <a:cxnLst/>
          <a:rect l="0" t="0" r="0" b="0"/>
          <a:pathLst>
            <a:path>
              <a:moveTo>
                <a:pt x="3673700" y="6066017"/>
              </a:moveTo>
              <a:arcTo wR="3063681" hR="3063681" stAng="4710894" swAng="1378211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FFD541-A254-4D47-AADA-3D21DDD326EB}">
      <dsp:nvSpPr>
        <dsp:cNvPr id="0" name=""/>
        <dsp:cNvSpPr/>
      </dsp:nvSpPr>
      <dsp:spPr>
        <a:xfrm>
          <a:off x="1196634" y="5545175"/>
          <a:ext cx="2357156" cy="153215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Turnaround time challenges</a:t>
          </a:r>
          <a:endParaRPr lang="en-US" sz="2400" kern="12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sp:txBody>
      <dsp:txXfrm>
        <a:off x="1271427" y="5619968"/>
        <a:ext cx="2207570" cy="1382565"/>
      </dsp:txXfrm>
    </dsp:sp>
    <dsp:sp modelId="{D87D09C5-FA83-461A-B6A1-10FEEDC48E3A}">
      <dsp:nvSpPr>
        <dsp:cNvPr id="0" name=""/>
        <dsp:cNvSpPr/>
      </dsp:nvSpPr>
      <dsp:spPr>
        <a:xfrm>
          <a:off x="1112318" y="768998"/>
          <a:ext cx="6127363" cy="6127363"/>
        </a:xfrm>
        <a:custGeom>
          <a:avLst/>
          <a:gdLst/>
          <a:ahLst/>
          <a:cxnLst/>
          <a:rect l="0" t="0" r="0" b="0"/>
          <a:pathLst>
            <a:path>
              <a:moveTo>
                <a:pt x="512387" y="4759866"/>
              </a:moveTo>
              <a:arcTo wR="3063681" hR="3063681" stAng="8782963" swAng="2197842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A7E3D-A852-4757-939B-2E6030F3E0DF}">
      <dsp:nvSpPr>
        <dsp:cNvPr id="0" name=""/>
        <dsp:cNvSpPr/>
      </dsp:nvSpPr>
      <dsp:spPr>
        <a:xfrm>
          <a:off x="83687" y="2119875"/>
          <a:ext cx="2357156" cy="153215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rPr>
            <a:t>Need for specialised expertise</a:t>
          </a:r>
          <a:endParaRPr lang="en-US" sz="2400" kern="1200" dirty="0">
            <a:latin typeface="Helvetica World" panose="020B0604020202020204" charset="-128"/>
            <a:ea typeface="Helvetica World" panose="020B0604020202020204" charset="-128"/>
            <a:cs typeface="Helvetica World" panose="020B0604020202020204" charset="-128"/>
          </a:endParaRPr>
        </a:p>
      </dsp:txBody>
      <dsp:txXfrm>
        <a:off x="158480" y="2194668"/>
        <a:ext cx="2207570" cy="1382565"/>
      </dsp:txXfrm>
    </dsp:sp>
    <dsp:sp modelId="{15C9030D-CE93-4FAF-8048-5266EBF286DB}">
      <dsp:nvSpPr>
        <dsp:cNvPr id="0" name=""/>
        <dsp:cNvSpPr/>
      </dsp:nvSpPr>
      <dsp:spPr>
        <a:xfrm>
          <a:off x="1112318" y="768998"/>
          <a:ext cx="6127363" cy="6127363"/>
        </a:xfrm>
        <a:custGeom>
          <a:avLst/>
          <a:gdLst/>
          <a:ahLst/>
          <a:cxnLst/>
          <a:rect l="0" t="0" r="0" b="0"/>
          <a:pathLst>
            <a:path>
              <a:moveTo>
                <a:pt x="533396" y="1336312"/>
              </a:moveTo>
              <a:arcTo wR="3063681" hR="3063681" stAng="12859229" swAng="1963540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39242-7103-4ACD-A79A-9C26CA781FB5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BE94B-D46A-4444-8080-2B169A361C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991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Hi, I’m Eylul Turkay.</a:t>
            </a:r>
            <a:br>
              <a:rPr lang="en-GB" dirty="0"/>
            </a:br>
            <a:r>
              <a:rPr lang="en-GB" dirty="0"/>
              <a:t>Today I’ll discuss what we have learned from next-generation sequencing of cancer genomes.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734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52401" y="4400550"/>
            <a:ext cx="6704012" cy="5200650"/>
          </a:xfrm>
        </p:spPr>
        <p:txBody>
          <a:bodyPr/>
          <a:lstStyle/>
          <a:p>
            <a:r>
              <a:rPr lang="en-GB" dirty="0"/>
              <a:t>“Cancer used to be studied gene by gene, based on the idea that tumour behaviour is driven by a single dominant mutation.”</a:t>
            </a:r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“For example, Sanger sequencing produced low-throughput single reads, so analysis was limited to individual genes.”</a:t>
            </a:r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“The Human Genome Project enabled large-scale sequencing, but it remained slow and expensive.”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(Point to NGS part of figure)</a:t>
            </a:r>
            <a:br>
              <a:rPr lang="en-GB" dirty="0"/>
            </a:br>
            <a:r>
              <a:rPr lang="en-GB" dirty="0"/>
              <a:t>“With next-generation sequencing, we shift to massively parallel sequencing, generating millions of reads at once.”</a:t>
            </a:r>
          </a:p>
          <a:p>
            <a:r>
              <a:rPr lang="en-GB" dirty="0"/>
              <a:t>“This allows genome-wide detection of multiple variant types, including single-nucleotide variants, copy-number changes, and structural variants.”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(Link to bullet 3 explicitly)</a:t>
            </a:r>
            <a:br>
              <a:rPr lang="en-GB" dirty="0"/>
            </a:br>
            <a:r>
              <a:rPr lang="en-GB" dirty="0"/>
              <a:t>“This reveals tumour complexity and heterogeneity, meaning tumours are driven by multiple mutations and pathways rather than a single event.”</a:t>
            </a:r>
          </a:p>
          <a:p>
            <a:r>
              <a:rPr lang="en-GB" dirty="0"/>
              <a:t>🔥 Add clinical link (KEEP SHORT)</a:t>
            </a:r>
            <a:br>
              <a:rPr lang="en-GB" dirty="0"/>
            </a:br>
            <a:r>
              <a:rPr lang="en-GB" dirty="0"/>
              <a:t>“This is important because treatment decisions now depend on identifying multiple alterations rather than targeting one mutation.”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(Move to platform section in figure)</a:t>
            </a:r>
            <a:br>
              <a:rPr lang="en-GB" dirty="0"/>
            </a:br>
            <a:r>
              <a:rPr lang="en-GB" dirty="0"/>
              <a:t>“However, not all sequencing platforms capture the genome equally.”</a:t>
            </a:r>
          </a:p>
          <a:p>
            <a:r>
              <a:rPr lang="en-GB" dirty="0"/>
              <a:t>“Short-read sequencing is highly accurate, above 99.9%, and is widely used clinically for detecting single-nucleotide variants.”</a:t>
            </a:r>
          </a:p>
          <a:p>
            <a:r>
              <a:rPr lang="en-GB" dirty="0"/>
              <a:t>“However, it struggles to detect structural variants and repetitive regions.”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“In contrast, long-read sequencing generates longer reads, which improves detection of structural variants and genome organisation.”</a:t>
            </a:r>
          </a:p>
          <a:p>
            <a:r>
              <a:rPr lang="en-GB" dirty="0"/>
              <a:t>“But this comes with higher error rates and lower clinical use at present.”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🔥 </a:t>
            </a:r>
            <a:r>
              <a:rPr lang="en-GB" b="1" dirty="0"/>
              <a:t>Final line (KEEP EXACTLY THIS)</a:t>
            </a:r>
            <a:br>
              <a:rPr lang="en-GB" dirty="0"/>
            </a:br>
            <a:r>
              <a:rPr lang="en-GB" dirty="0"/>
              <a:t>“So tumour complexity depends on the sequencing method used.”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622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52399" y="4343400"/>
            <a:ext cx="6704013" cy="8686800"/>
          </a:xfrm>
        </p:spPr>
        <p:txBody>
          <a:bodyPr/>
          <a:lstStyle/>
          <a:p>
            <a:r>
              <a:rPr lang="en-GB" b="1" dirty="0"/>
              <a:t>🎤 Slide 3 – Methodology (FINAL VERSION)</a:t>
            </a:r>
          </a:p>
          <a:p>
            <a:r>
              <a:rPr lang="en-GB" dirty="0"/>
              <a:t>“This figure shows how next-generation sequencing generates clinically usable data from tumour and matched normal samples.”</a:t>
            </a:r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“By comparing tumour and normal DNA, we identify somatic mutations by removing germline variation.”</a:t>
            </a:r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“The workflow includes DNA extraction, library preparation, sequencing, and bioinformatic analysis.”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“DNA quality is critical. If DNA is degraded, some regions are not sequenced, leading to missed mutations.”</a:t>
            </a:r>
          </a:p>
          <a:p>
            <a:r>
              <a:rPr lang="en-GB" dirty="0"/>
              <a:t>“During library preparation, PCR amplification introduces bias.”</a:t>
            </a:r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“This causes uneven representation of DNA fragments and distorts allele frequency.”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“Variant detection depends on sequencing depth, tumour purity, and filtering thresholds.”</a:t>
            </a:r>
          </a:p>
          <a:p>
            <a:r>
              <a:rPr lang="en-GB" dirty="0"/>
              <a:t>“If tumour purity is low, tumour DNA is diluted, so some mutations fall below detection thresholds.”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⚠️</a:t>
            </a:r>
            <a:br>
              <a:rPr lang="en-GB" dirty="0"/>
            </a:br>
            <a:r>
              <a:rPr lang="en-GB" dirty="0"/>
              <a:t>“Mutations are not directly observed. They are inferred from read depth and allele frequency.”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</a:t>
            </a:r>
            <a:br>
              <a:rPr lang="en-GB" dirty="0"/>
            </a:br>
            <a:r>
              <a:rPr lang="en-GB" dirty="0"/>
              <a:t>“Platform-specific errors further affect detection, particularly for low-frequency mutations.”</a:t>
            </a:r>
          </a:p>
          <a:p>
            <a:r>
              <a:rPr lang="en-GB" dirty="0"/>
              <a:t>“For example, short-read platforms mainly produce substitution errors, while long-read platforms have higher insertion and deletion error rates.”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🔥</a:t>
            </a:r>
            <a:br>
              <a:rPr lang="en-GB" dirty="0"/>
            </a:br>
            <a:r>
              <a:rPr lang="en-GB" dirty="0"/>
              <a:t>“This means clinically important mutations, such as resistance mutations, may be missed at diagnosis.”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🔥</a:t>
            </a:r>
            <a:br>
              <a:rPr lang="en-GB" dirty="0"/>
            </a:br>
            <a:r>
              <a:rPr lang="en-GB" dirty="0"/>
              <a:t>“So tumour heterogeneity is shaped by the sequencing </a:t>
            </a:r>
            <a:r>
              <a:rPr lang="en-GB" dirty="0" err="1"/>
              <a:t>depth,error</a:t>
            </a:r>
            <a:r>
              <a:rPr lang="en-GB" dirty="0"/>
              <a:t> rates and pipeline design.”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496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4800" y="4400550"/>
            <a:ext cx="6324600" cy="398145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👉 </a:t>
            </a:r>
            <a:r>
              <a:rPr lang="en-GB" b="1" dirty="0"/>
              <a:t>Driver mutations</a:t>
            </a:r>
            <a:br>
              <a:rPr lang="en-GB" dirty="0"/>
            </a:br>
            <a:r>
              <a:rPr lang="en-GB" dirty="0"/>
              <a:t>“First, this heatmap shows that mutations cluster in a small number of genes such as TP53, KRAS and PIK3CA.”</a:t>
            </a:r>
            <a:br>
              <a:rPr lang="en-GB" dirty="0"/>
            </a:br>
            <a:r>
              <a:rPr lang="en-GB" dirty="0"/>
              <a:t>“This shows that tumour development is not random but driven by key signalling pathways.”</a:t>
            </a:r>
            <a:br>
              <a:rPr lang="en-GB" dirty="0"/>
            </a:br>
            <a:r>
              <a:rPr lang="en-GB" dirty="0"/>
              <a:t>“For example, KRAS mutations in colorectal cancer predict lack of response to EGFR inhibitors.”</a:t>
            </a:r>
          </a:p>
          <a:p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Tumour heterogeneity</a:t>
            </a:r>
            <a:br>
              <a:rPr lang="en-GB" dirty="0"/>
            </a:br>
            <a:r>
              <a:rPr lang="en-GB" dirty="0"/>
              <a:t>“Second, the circular plot shows that a single tumour contains multiple types of genomic alterations.”</a:t>
            </a:r>
            <a:br>
              <a:rPr lang="en-GB" dirty="0"/>
            </a:br>
            <a:r>
              <a:rPr lang="en-GB" dirty="0"/>
              <a:t>“These include single-nucleotide variants, copy number changes and structural variants.”</a:t>
            </a:r>
            <a:br>
              <a:rPr lang="en-GB" dirty="0"/>
            </a:br>
            <a:r>
              <a:rPr lang="en-GB" dirty="0"/>
              <a:t>“On average, tumours contain around 4 to 5 driver mutations.”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Two-hit tumour suppressors</a:t>
            </a:r>
            <a:br>
              <a:rPr lang="en-GB" dirty="0"/>
            </a:br>
            <a:r>
              <a:rPr lang="en-GB" dirty="0"/>
              <a:t>“Third, tumour suppressor genes require two-hit inactivation.”</a:t>
            </a:r>
            <a:br>
              <a:rPr lang="en-GB" dirty="0"/>
            </a:br>
            <a:r>
              <a:rPr lang="en-GB" dirty="0"/>
              <a:t>“NGS detects this as a mutation together with copy number loss.”</a:t>
            </a:r>
            <a:br>
              <a:rPr lang="en-GB" dirty="0"/>
            </a:br>
            <a:r>
              <a:rPr lang="en-GB" dirty="0"/>
              <a:t>“This is important because loss of DNA repair genes such as BRCA1 or BRCA2 increases sensitivity to treatment.”</a:t>
            </a:r>
            <a:br>
              <a:rPr lang="en-GB" dirty="0"/>
            </a:br>
            <a:r>
              <a:rPr lang="en-GB" dirty="0"/>
              <a:t>“For example, platinum chemotherapy or PARP inhibitors.”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Clonal and </a:t>
            </a:r>
            <a:r>
              <a:rPr lang="en-GB" b="1" dirty="0" err="1"/>
              <a:t>subclonal</a:t>
            </a:r>
            <a:r>
              <a:rPr lang="en-GB" b="1" dirty="0"/>
              <a:t> populations</a:t>
            </a:r>
            <a:br>
              <a:rPr lang="en-GB" dirty="0"/>
            </a:br>
            <a:r>
              <a:rPr lang="en-GB" dirty="0"/>
              <a:t>“Next, tumours contain both clonal and </a:t>
            </a:r>
            <a:r>
              <a:rPr lang="en-GB" dirty="0" err="1"/>
              <a:t>subclonal</a:t>
            </a:r>
            <a:r>
              <a:rPr lang="en-GB" dirty="0"/>
              <a:t> populations.”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Subclonal</a:t>
            </a:r>
            <a:r>
              <a:rPr lang="en-GB" dirty="0"/>
              <a:t> mutations are present at low levels and may be missed.”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Detection limitation</a:t>
            </a:r>
            <a:br>
              <a:rPr lang="en-GB" dirty="0"/>
            </a:br>
            <a:r>
              <a:rPr lang="en-GB" dirty="0"/>
              <a:t>“These data are derived from bulk sequencing, where signals are averaged across many cells.”</a:t>
            </a:r>
            <a:br>
              <a:rPr lang="en-GB" dirty="0"/>
            </a:br>
            <a:r>
              <a:rPr lang="en-GB" dirty="0"/>
              <a:t>“So low-frequency subclones may not be detected and resistant subclones can survive treatment and lead to relapse.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Single time point limitation</a:t>
            </a:r>
            <a:br>
              <a:rPr lang="en-GB" dirty="0"/>
            </a:br>
            <a:r>
              <a:rPr lang="en-GB" dirty="0"/>
              <a:t>“Finally, this analysis is based on a single sample taken at one time point.”</a:t>
            </a:r>
            <a:br>
              <a:rPr lang="en-GB" dirty="0"/>
            </a:br>
            <a:r>
              <a:rPr lang="en-GB" dirty="0"/>
              <a:t>“So NGS helps reconstruct tumour evolution, but it cannot fully capture how the tumour changes over time.”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86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52400" y="4400550"/>
            <a:ext cx="6477000" cy="13354050"/>
          </a:xfrm>
        </p:spPr>
        <p:txBody>
          <a:bodyPr/>
          <a:lstStyle/>
          <a:p>
            <a:r>
              <a:rPr lang="en-GB" dirty="0"/>
              <a:t>“This figure shows how next-generation sequencing links tumour genomics to clinical decision-making.”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The first application is tumour profiling.</a:t>
            </a:r>
            <a:br>
              <a:rPr lang="en-GB" dirty="0"/>
            </a:br>
            <a:r>
              <a:rPr lang="en-GB" dirty="0"/>
              <a:t>“NGS enables genome-wide detection of variants and helps identify driver mutations.”</a:t>
            </a:r>
            <a:br>
              <a:rPr lang="en-GB" dirty="0"/>
            </a:br>
            <a:r>
              <a:rPr lang="en-GB" dirty="0"/>
              <a:t>“About 91% of tumours contain at least one driver mutation.”</a:t>
            </a:r>
            <a:br>
              <a:rPr lang="en-GB" dirty="0"/>
            </a:br>
            <a:r>
              <a:rPr lang="en-GB" dirty="0"/>
              <a:t>“However, these mutations are found using computer analysis, not directly seen in the tumour.”</a:t>
            </a:r>
          </a:p>
          <a:p>
            <a:br>
              <a:rPr lang="en-GB" dirty="0"/>
            </a:br>
            <a:r>
              <a:rPr lang="en-GB" dirty="0"/>
              <a:t>👉 </a:t>
            </a:r>
            <a:r>
              <a:rPr lang="en-GB" b="1" dirty="0"/>
              <a:t>The second application is treatment selection</a:t>
            </a:r>
            <a:br>
              <a:rPr lang="en-GB" dirty="0"/>
            </a:br>
            <a:r>
              <a:rPr lang="en-GB" dirty="0"/>
              <a:t>“Initially, sequencing uses targeted panels to detect clinically actionable mutations.”</a:t>
            </a:r>
            <a:br>
              <a:rPr lang="en-GB" dirty="0"/>
            </a:br>
            <a:r>
              <a:rPr lang="en-GB" dirty="0"/>
              <a:t>“If these are negative, whole exome or whole genome sequencing is used.”</a:t>
            </a:r>
            <a:br>
              <a:rPr lang="en-GB" dirty="0"/>
            </a:br>
            <a:r>
              <a:rPr lang="en-GB" dirty="0"/>
              <a:t>“so the method is selected based on clinical need.”</a:t>
            </a:r>
          </a:p>
          <a:p>
            <a:r>
              <a:rPr lang="en-GB" dirty="0"/>
              <a:t>“Next, this links mutations to the pathways driving the tumour.”</a:t>
            </a:r>
            <a:br>
              <a:rPr lang="en-GB" dirty="0"/>
            </a:br>
            <a:r>
              <a:rPr lang="en-GB" dirty="0"/>
              <a:t>“For example, EGFR mutations activate signalling pathways that promote tumour growth.”</a:t>
            </a:r>
            <a:br>
              <a:rPr lang="en-GB" dirty="0"/>
            </a:br>
            <a:r>
              <a:rPr lang="en-GB" dirty="0"/>
              <a:t>“So EGFR-mutant lung cancer is treated with tyrosine kinase inhibitors.”</a:t>
            </a:r>
          </a:p>
          <a:p>
            <a:r>
              <a:rPr lang="en-GB" dirty="0"/>
              <a:t>“However, resistance mutations such as T790M can develop.”</a:t>
            </a:r>
            <a:br>
              <a:rPr lang="en-GB" dirty="0"/>
            </a:br>
            <a:r>
              <a:rPr lang="en-GB" dirty="0"/>
              <a:t>“These may require repeat sequencing or liquid biopsy to guide treatment changes.”</a:t>
            </a:r>
          </a:p>
          <a:p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The third application is immunotherapy selection.</a:t>
            </a:r>
            <a:br>
              <a:rPr lang="en-GB" dirty="0"/>
            </a:br>
            <a:r>
              <a:rPr lang="en-GB" dirty="0"/>
              <a:t>“NGS identifies microsatellite instability and tumour mutational burden.”</a:t>
            </a:r>
            <a:br>
              <a:rPr lang="en-GB" dirty="0"/>
            </a:br>
            <a:r>
              <a:rPr lang="en-GB" dirty="0"/>
              <a:t>“For example, MSI-high colorectal cancers respond well to PD-1 inhibitors.”</a:t>
            </a:r>
            <a:br>
              <a:rPr lang="en-GB" dirty="0"/>
            </a:br>
            <a:r>
              <a:rPr lang="en-GB" dirty="0"/>
              <a:t>“However, these markers do not always predict response.”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The fourth application is disease monitoring.</a:t>
            </a:r>
            <a:br>
              <a:rPr lang="en-GB" dirty="0"/>
            </a:br>
            <a:r>
              <a:rPr lang="en-GB" dirty="0"/>
              <a:t>“NGS detects circulating tumour DNA to monitor relapse.”</a:t>
            </a:r>
            <a:br>
              <a:rPr lang="en-GB" dirty="0"/>
            </a:br>
            <a:r>
              <a:rPr lang="en-GB" dirty="0"/>
              <a:t>“However, sensitivity is limited, especially in early-stage cancer.”</a:t>
            </a:r>
            <a:br>
              <a:rPr lang="en-GB" dirty="0"/>
            </a:br>
            <a:r>
              <a:rPr lang="en-GB" dirty="0"/>
              <a:t>“So a negative result does not rule out disease.”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The fifth application is hereditary risk assessment.</a:t>
            </a:r>
            <a:br>
              <a:rPr lang="en-GB" dirty="0"/>
            </a:br>
            <a:r>
              <a:rPr lang="en-GB" dirty="0"/>
              <a:t>“NGS identifies germline variants such as BRCA1 and BRCA2.”</a:t>
            </a:r>
            <a:br>
              <a:rPr lang="en-GB" dirty="0"/>
            </a:br>
            <a:r>
              <a:rPr lang="en-GB" dirty="0"/>
              <a:t>“This helps guide treatment and assess family risk.”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🔥 </a:t>
            </a:r>
            <a:r>
              <a:rPr lang="en-GB" b="1" dirty="0"/>
              <a:t>Final point (slow down):</a:t>
            </a:r>
            <a:br>
              <a:rPr lang="en-GB" dirty="0"/>
            </a:br>
            <a:r>
              <a:rPr lang="en-GB" dirty="0"/>
              <a:t>“However, many detected variants are not clinically actionable.”</a:t>
            </a:r>
            <a:br>
              <a:rPr lang="en-GB" dirty="0"/>
            </a:br>
            <a:r>
              <a:rPr lang="en-GB" dirty="0"/>
              <a:t>“So genomic data alone is not enough to fully predict clinical outcome.”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061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52401" y="4400550"/>
            <a:ext cx="6704012" cy="6724650"/>
          </a:xfrm>
        </p:spPr>
        <p:txBody>
          <a:bodyPr/>
          <a:lstStyle/>
          <a:p>
            <a:r>
              <a:rPr lang="en-GB" b="1" dirty="0"/>
              <a:t>“This slide shows the main challenges of next-generation sequencing.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The first challenge is data interpretation.</a:t>
            </a:r>
            <a:br>
              <a:rPr lang="en-GB" dirty="0"/>
            </a:br>
            <a:r>
              <a:rPr lang="en-GB" dirty="0"/>
              <a:t>“NGS produces thousands of variants, but only a small fraction are biologically relevant.”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The second challenge is cost and accessibility.</a:t>
            </a:r>
            <a:br>
              <a:rPr lang="en-GB" dirty="0"/>
            </a:br>
            <a:r>
              <a:rPr lang="en-GB" dirty="0"/>
              <a:t>“NGS requires specialised sequencing platforms, bioinformatic infrastructure, and trained staff, limiting  availability across healthcare systems.”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The third challenge is turnaround time.</a:t>
            </a:r>
          </a:p>
          <a:p>
            <a:r>
              <a:rPr lang="en-GB" dirty="0"/>
              <a:t>Sequencing and analysis can delay treatment decisions.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👉 </a:t>
            </a:r>
            <a:r>
              <a:rPr lang="en-GB" b="1" dirty="0"/>
              <a:t>The fourth challenge is ethical issues including </a:t>
            </a:r>
            <a:r>
              <a:rPr lang="en-GB" dirty="0"/>
              <a:t>patient consent and data privacy.”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Next, several approaches are being developed to address these limitations.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The first approach is single-cell sequencing.</a:t>
            </a:r>
            <a:br>
              <a:rPr lang="en-GB" dirty="0"/>
            </a:br>
            <a:r>
              <a:rPr lang="en-GB" dirty="0"/>
              <a:t>“This analyses individual tumour cells instead of bulk tissue.”</a:t>
            </a:r>
            <a:br>
              <a:rPr lang="en-GB" dirty="0"/>
            </a:br>
            <a:r>
              <a:rPr lang="en-GB" dirty="0"/>
              <a:t>“It reveals </a:t>
            </a:r>
            <a:r>
              <a:rPr lang="en-GB" dirty="0" err="1"/>
              <a:t>subclonal</a:t>
            </a:r>
            <a:r>
              <a:rPr lang="en-GB" dirty="0"/>
              <a:t> populations that are missed </a:t>
            </a:r>
            <a:r>
              <a:rPr lang="en-GB"/>
              <a:t>in bulk sequencing</a:t>
            </a:r>
            <a:r>
              <a:rPr lang="en-GB" dirty="0"/>
              <a:t>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The second approach is long-read sequencing.</a:t>
            </a:r>
            <a:br>
              <a:rPr lang="en-GB" dirty="0"/>
            </a:br>
            <a:r>
              <a:rPr lang="en-GB" dirty="0"/>
              <a:t>“This improves detection of structural variants and gene rearrangements.”</a:t>
            </a:r>
            <a:br>
              <a:rPr lang="en-GB" dirty="0"/>
            </a:br>
            <a:r>
              <a:rPr lang="en-GB" dirty="0"/>
              <a:t>“However, it is not widely used yet due to higher error rates and cost.”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The third approach is multi-omics integration.</a:t>
            </a:r>
            <a:br>
              <a:rPr lang="en-GB" dirty="0"/>
            </a:br>
            <a:r>
              <a:rPr lang="en-GB" dirty="0"/>
              <a:t>“This combines genomic data with transcriptomic and proteomic data.”</a:t>
            </a:r>
            <a:br>
              <a:rPr lang="en-GB" dirty="0"/>
            </a:br>
            <a:r>
              <a:rPr lang="en-GB" dirty="0"/>
              <a:t>“It helps identify which mutations are functionally active.”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🔴 </a:t>
            </a:r>
            <a:r>
              <a:rPr lang="en-GB" b="1" dirty="0"/>
              <a:t>Critical point (say clearly):</a:t>
            </a:r>
            <a:br>
              <a:rPr lang="en-GB" dirty="0"/>
            </a:br>
            <a:r>
              <a:rPr lang="en-GB" dirty="0"/>
              <a:t>“However, these approaches increase data complexity and are not yet widely used in clinical practice.”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🔥 </a:t>
            </a:r>
            <a:r>
              <a:rPr lang="en-GB" b="1" dirty="0"/>
              <a:t>Final close (slow down):</a:t>
            </a:r>
            <a:br>
              <a:rPr lang="en-GB" dirty="0"/>
            </a:br>
            <a:r>
              <a:rPr lang="en-GB" dirty="0"/>
              <a:t>“So the main challenge is interpreting them for clinical decision-making.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533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2609850"/>
          </a:xfrm>
        </p:spPr>
        <p:txBody>
          <a:bodyPr/>
          <a:lstStyle/>
          <a:p>
            <a:r>
              <a:rPr lang="en-GB" dirty="0"/>
              <a:t>“</a:t>
            </a:r>
            <a:r>
              <a:rPr lang="en-GB" b="1" dirty="0"/>
              <a:t>“To conclude,”</a:t>
            </a:r>
            <a:br>
              <a:rPr lang="en-GB" dirty="0"/>
            </a:br>
            <a:r>
              <a:rPr lang="en-GB" dirty="0"/>
              <a:t>“Next-generation sequencing has shown that cancer is heterogeneous and changes over time.”</a:t>
            </a:r>
          </a:p>
          <a:p>
            <a:r>
              <a:rPr lang="en-GB" dirty="0"/>
              <a:t>“It allows genome-wide profiling of tumours and supports treatment decisions, including targeted therapy and immunotherapy.”</a:t>
            </a:r>
          </a:p>
          <a:p>
            <a:r>
              <a:rPr lang="en-GB" dirty="0"/>
              <a:t>🔴 </a:t>
            </a:r>
            <a:r>
              <a:rPr lang="en-GB" i="1" dirty="0"/>
              <a:t>Pause</a:t>
            </a:r>
            <a:endParaRPr lang="en-GB" dirty="0"/>
          </a:p>
          <a:p>
            <a:r>
              <a:rPr lang="en-GB" dirty="0"/>
              <a:t>“However, most detected variants are not clinically actionable.”</a:t>
            </a:r>
          </a:p>
          <a:p>
            <a:r>
              <a:rPr lang="en-GB" dirty="0"/>
              <a:t>🔥 </a:t>
            </a:r>
            <a:r>
              <a:rPr lang="en-GB" b="1" dirty="0"/>
              <a:t>Final line (slow down):</a:t>
            </a:r>
            <a:br>
              <a:rPr lang="en-GB" dirty="0"/>
            </a:br>
            <a:r>
              <a:rPr lang="en-GB" dirty="0"/>
              <a:t>“So the main challenge is identifying which mutations are biologically meaningful and clinically relevant.”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07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31C1-24CF-B4D0-65CA-CD4511D5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6987E-70CB-D9D7-2430-1BC53425E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87771-BC76-390A-8578-C041B9C36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A8D57-F6C7-0337-F103-1777D2224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BE94B-D46A-4444-8080-2B169A361C6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4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812800" cy="914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14400"/>
            </a:xfrm>
            <a:custGeom>
              <a:avLst/>
              <a:gdLst/>
              <a:ahLst/>
              <a:cxnLst/>
              <a:rect l="l" t="t" r="r" b="b"/>
              <a:pathLst>
                <a:path w="812800" h="914400">
                  <a:moveTo>
                    <a:pt x="0" y="0"/>
                  </a:moveTo>
                  <a:lnTo>
                    <a:pt x="812800" y="0"/>
                  </a:lnTo>
                  <a:lnTo>
                    <a:pt x="81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/>
              <a:stretch>
                <a:fillRect t="-19444" b="-19444"/>
              </a:stretch>
            </a:blip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70780" y="338056"/>
            <a:ext cx="7892219" cy="7182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360"/>
              </a:lnSpc>
              <a:spcBef>
                <a:spcPct val="0"/>
              </a:spcBef>
            </a:pPr>
            <a:r>
              <a:rPr lang="en-GB" sz="7800" b="1" spc="-273" dirty="0">
                <a:solidFill>
                  <a:srgbClr val="ECF0F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Georgia Pro Condensed"/>
              </a:rPr>
              <a:t>What have we learned from </a:t>
            </a:r>
          </a:p>
          <a:p>
            <a:pPr lvl="0">
              <a:lnSpc>
                <a:spcPts val="9360"/>
              </a:lnSpc>
              <a:spcBef>
                <a:spcPct val="0"/>
              </a:spcBef>
            </a:pPr>
            <a:r>
              <a:rPr lang="en-GB" sz="7800" b="1" dirty="0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Next-generation sequencing</a:t>
            </a:r>
            <a:r>
              <a:rPr lang="en-GB" sz="7800" b="1" spc="-273" dirty="0">
                <a:solidFill>
                  <a:srgbClr val="ECF0F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Georgia Pro Condensed"/>
              </a:rPr>
              <a:t>(NGS) of cancer genomes?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7886700"/>
            <a:ext cx="2133600" cy="49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3000" spc="-44" dirty="0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Eylul Turkay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983F-728B-828F-F872-AF810641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976E350-B1D3-0746-BAB6-D56964BE63FE}"/>
              </a:ext>
            </a:extLst>
          </p:cNvPr>
          <p:cNvSpPr txBox="1"/>
          <p:nvPr/>
        </p:nvSpPr>
        <p:spPr>
          <a:xfrm>
            <a:off x="1219200" y="82628"/>
            <a:ext cx="16805118" cy="115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360"/>
              </a:lnSpc>
            </a:pPr>
            <a:r>
              <a:rPr lang="en-GB" sz="7800" b="1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Introduction</a:t>
            </a:r>
            <a:r>
              <a:rPr lang="en-GB" sz="7800" b="1" baseline="30000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1-4</a:t>
            </a:r>
            <a:r>
              <a:rPr lang="en-US" sz="7800" spc="-234" baseline="30000" dirty="0">
                <a:solidFill>
                  <a:schemeClr val="accent1">
                    <a:lumMod val="50000"/>
                  </a:scheme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A65993-83C5-4450-4967-6CC84DAA47F1}"/>
              </a:ext>
            </a:extLst>
          </p:cNvPr>
          <p:cNvSpPr txBox="1"/>
          <p:nvPr/>
        </p:nvSpPr>
        <p:spPr>
          <a:xfrm>
            <a:off x="11049000" y="2933802"/>
            <a:ext cx="6447572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Shift from gene-by-gene</a:t>
            </a:r>
            <a:r>
              <a:rPr lang="en-GB" sz="2600" dirty="0"/>
              <a:t>→ </a:t>
            </a: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genome-wide analysis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Enables detection of SNVs, CNAs, and structural variants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Reveals tumour complexity and heterogeneity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64DD3-F3B5-84F3-D56C-1E92F51C1946}"/>
              </a:ext>
            </a:extLst>
          </p:cNvPr>
          <p:cNvSpPr txBox="1"/>
          <p:nvPr/>
        </p:nvSpPr>
        <p:spPr>
          <a:xfrm>
            <a:off x="828548" y="7255014"/>
            <a:ext cx="9839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Figure 1. 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Timeline showing the transition from low-throughput single-gene sequencing to next-generation sequencing (NGS). Adapted from ¹⁻². </a:t>
            </a:r>
            <a:r>
              <a:rPr lang="en-GB" sz="20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Created in BioRender.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1243B3-89C7-054B-004A-2D9AB08ADB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34" y="2143991"/>
            <a:ext cx="9776866" cy="4937317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sp>
        <p:nvSpPr>
          <p:cNvPr id="3" name="AutoShape 6">
            <a:extLst>
              <a:ext uri="{FF2B5EF4-FFF2-40B4-BE49-F238E27FC236}">
                <a16:creationId xmlns:a16="http://schemas.microsoft.com/office/drawing/2014/main" id="{B58B1394-E77C-2624-3C6C-3178D717CCB1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43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9200" y="82628"/>
            <a:ext cx="16805118" cy="115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360"/>
              </a:lnSpc>
            </a:pPr>
            <a:r>
              <a:rPr lang="en-GB" sz="7800" b="1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Methodology</a:t>
            </a:r>
            <a:r>
              <a:rPr lang="en-GB" sz="7800" b="1" baseline="30000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5-6</a:t>
            </a:r>
            <a:r>
              <a:rPr lang="en-US" sz="7800" spc="-234" dirty="0">
                <a:solidFill>
                  <a:schemeClr val="accent1">
                    <a:lumMod val="50000"/>
                  </a:schemeClr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5800" y="2095500"/>
            <a:ext cx="9067800" cy="4059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Tumour–normal comparison identifies somatic mutations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Bioinformatics identifies variants from aligned sequencing reads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Detection depends on coverage, thresholds, and tumour purity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Platform-specific errors affect detection 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(substitutions in short-read, indels in long-read)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Observed heterogeneity is influenced by sequencing depth, error rates, and pipeline design</a:t>
            </a:r>
            <a:endParaRPr lang="en-US" sz="2600" spc="-78" dirty="0"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0" lvl="0" indent="0" algn="l">
              <a:lnSpc>
                <a:spcPts val="3907"/>
              </a:lnSpc>
              <a:spcBef>
                <a:spcPct val="0"/>
              </a:spcBef>
            </a:pPr>
            <a:endParaRPr lang="en-US" sz="2600" spc="-78" dirty="0">
              <a:solidFill>
                <a:srgbClr val="2C3E5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538E18-8896-ECD7-4348-2E8EC00D69AC}"/>
              </a:ext>
            </a:extLst>
          </p:cNvPr>
          <p:cNvGrpSpPr/>
          <p:nvPr/>
        </p:nvGrpSpPr>
        <p:grpSpPr>
          <a:xfrm>
            <a:off x="914400" y="1700294"/>
            <a:ext cx="7010400" cy="6375143"/>
            <a:chOff x="228600" y="114300"/>
            <a:chExt cx="9860216" cy="10469434"/>
          </a:xfrm>
        </p:grpSpPr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E87F9353-CDBB-076B-09DB-2B8FD1DF8650}"/>
                </a:ext>
              </a:extLst>
            </p:cNvPr>
            <p:cNvSpPr txBox="1"/>
            <p:nvPr/>
          </p:nvSpPr>
          <p:spPr>
            <a:xfrm>
              <a:off x="1012864" y="8210794"/>
              <a:ext cx="8755318" cy="1443729"/>
            </a:xfrm>
            <a:prstGeom prst="rect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421767" indent="-421767" algn="just" defTabSz="749808">
                <a:lnSpc>
                  <a:spcPts val="3091"/>
                </a:lnSpc>
                <a:spcAft>
                  <a:spcPts val="600"/>
                </a:spcAft>
                <a:buFont typeface="+mj-lt"/>
                <a:buAutoNum type="arabicPeriod"/>
              </a:pPr>
              <a:r>
                <a:rPr lang="en-US" sz="2208" kern="1200" dirty="0">
                  <a:solidFill>
                    <a:srgbClr val="044579"/>
                  </a:solidFill>
                  <a:latin typeface="Neue Einstellung"/>
                  <a:ea typeface="+mn-ea"/>
                  <a:cs typeface="+mn-cs"/>
                  <a:sym typeface="Neue Einstellung"/>
                </a:rPr>
                <a:t>Tumour + normal samples collected </a:t>
              </a:r>
            </a:p>
            <a:p>
              <a:pPr marL="421767" indent="-421767" algn="just" defTabSz="749808">
                <a:lnSpc>
                  <a:spcPts val="3091"/>
                </a:lnSpc>
                <a:spcAft>
                  <a:spcPts val="600"/>
                </a:spcAft>
                <a:buFont typeface="+mj-lt"/>
                <a:buAutoNum type="arabicPeriod"/>
              </a:pPr>
              <a:r>
                <a:rPr lang="en-US" sz="2208" kern="1200" dirty="0">
                  <a:solidFill>
                    <a:srgbClr val="044579"/>
                  </a:solidFill>
                  <a:latin typeface="Neue Einstellung"/>
                  <a:ea typeface="+mn-ea"/>
                  <a:cs typeface="+mn-cs"/>
                  <a:sym typeface="Neue Einstellung"/>
                </a:rPr>
                <a:t>DNA extraction, library prep, sequencing  </a:t>
              </a:r>
            </a:p>
            <a:p>
              <a:pPr marL="421767" indent="-421767" algn="just" defTabSz="749808">
                <a:lnSpc>
                  <a:spcPts val="3091"/>
                </a:lnSpc>
                <a:spcAft>
                  <a:spcPts val="600"/>
                </a:spcAft>
                <a:buFont typeface="+mj-lt"/>
                <a:buAutoNum type="arabicPeriod"/>
              </a:pPr>
              <a:r>
                <a:rPr lang="en-US" sz="2208" kern="1200" dirty="0">
                  <a:solidFill>
                    <a:srgbClr val="044579"/>
                  </a:solidFill>
                  <a:latin typeface="Neue Einstellung"/>
                  <a:ea typeface="+mn-ea"/>
                  <a:cs typeface="+mn-cs"/>
                  <a:sym typeface="Neue Einstellung"/>
                </a:rPr>
                <a:t>Bioinformatics → variants → clinical report</a:t>
              </a:r>
              <a:endParaRPr lang="en-US" sz="2693" dirty="0">
                <a:solidFill>
                  <a:srgbClr val="044579"/>
                </a:solidFill>
                <a:latin typeface="Neue Einstellung"/>
                <a:ea typeface="Neue Einstellung"/>
                <a:cs typeface="Neue Einstellung"/>
                <a:sym typeface="Neue Einstellung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73183EB-A0D1-0DC0-B0F8-61B7F727C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9" t="14550" r="309"/>
            <a:stretch>
              <a:fillRect/>
            </a:stretch>
          </p:blipFill>
          <p:spPr>
            <a:xfrm>
              <a:off x="228600" y="114300"/>
              <a:ext cx="9860216" cy="10469434"/>
            </a:xfrm>
            <a:prstGeom prst="rect">
              <a:avLst/>
            </a:prstGeom>
            <a:ln w="76200">
              <a:solidFill>
                <a:schemeClr val="accent1">
                  <a:lumMod val="50000"/>
                </a:schemeClr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B6A791-7AC8-7391-5109-7B779D1747EA}"/>
                </a:ext>
              </a:extLst>
            </p:cNvPr>
            <p:cNvSpPr/>
            <p:nvPr/>
          </p:nvSpPr>
          <p:spPr>
            <a:xfrm>
              <a:off x="2667000" y="114300"/>
              <a:ext cx="457200" cy="381000"/>
            </a:xfrm>
            <a:prstGeom prst="rect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6F5EEEF-0273-7E50-68BF-9E730876E01D}"/>
              </a:ext>
            </a:extLst>
          </p:cNvPr>
          <p:cNvSpPr txBox="1"/>
          <p:nvPr/>
        </p:nvSpPr>
        <p:spPr>
          <a:xfrm>
            <a:off x="842403" y="8242637"/>
            <a:ext cx="70823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Figure 2. 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Workflow of NGS from tumour and matched normal samples to clinical decision-making. Adapted from ⁵. </a:t>
            </a:r>
            <a:r>
              <a:rPr lang="en-GB" sz="20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Created in BioRender.</a:t>
            </a:r>
            <a:endParaRPr lang="en-GB" sz="20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FCDBD26F-E865-6AA4-79C4-73EB62BCC51F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64868" y="84974"/>
            <a:ext cx="9897719" cy="1155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360"/>
              </a:lnSpc>
            </a:pPr>
            <a:r>
              <a:rPr lang="en-US" sz="7800" b="1" spc="-234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Georgia Pro Condensed"/>
              </a:rPr>
              <a:t>Biological insights</a:t>
            </a:r>
            <a:r>
              <a:rPr lang="en-GB" sz="7800" b="1" spc="-234" baseline="30000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Georgia Pro Condensed"/>
              </a:rPr>
              <a:t>3-4</a:t>
            </a:r>
            <a:endParaRPr lang="en-US" sz="7800" b="1" spc="-234" baseline="30000" dirty="0">
              <a:solidFill>
                <a:schemeClr val="accent1">
                  <a:lumMod val="50000"/>
                </a:schemeClr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Georgia Pro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820400" y="1859893"/>
            <a:ext cx="6582448" cy="6712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1. Driver mutations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Recurrent driver mutations 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(TP53, KRAS, PIK3CA)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Tumour suppressors require a two-hit inactivation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2. Tumour heterogeneity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Multiple alteration types 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(SNVs, CNAs, structural rearrangements)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Clonal and </a:t>
            </a:r>
            <a:r>
              <a:rPr lang="en-GB" sz="26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subclonal</a:t>
            </a: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populations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3. Detection limitations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Bulk sequencing averages signals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Low-frequency subclones may be missed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4. Clinical implications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Resistant subclones drive relapse</a:t>
            </a:r>
            <a:b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• Evolution inferred from a single time point</a:t>
            </a:r>
            <a:endParaRPr lang="en-US" sz="2600" spc="-78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Helvetica Wor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46470-1D21-B74F-C72E-B117BE256435}"/>
              </a:ext>
            </a:extLst>
          </p:cNvPr>
          <p:cNvSpPr txBox="1"/>
          <p:nvPr/>
        </p:nvSpPr>
        <p:spPr>
          <a:xfrm>
            <a:off x="685800" y="7709237"/>
            <a:ext cx="998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Figure 3.</a:t>
            </a: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Overview of cancer genome features, including recurrent driver mutations, multiple layers of genomic alterations, diverse mutation types, and tumour suppressor inactivation, underlying tumour development. Adapted from </a:t>
            </a:r>
            <a:r>
              <a:rPr lang="en-GB" sz="2000" dirty="0"/>
              <a:t>³⁻⁴.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</a:t>
            </a:r>
            <a:r>
              <a:rPr lang="en-GB" sz="20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Created in BioRender.</a:t>
            </a:r>
            <a:endParaRPr lang="en-GB" sz="2000" dirty="0">
              <a:solidFill>
                <a:schemeClr val="tx2">
                  <a:lumMod val="50000"/>
                </a:schemeClr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7B110C4A-32C2-65C4-FA06-05202A454672}"/>
              </a:ext>
            </a:extLst>
          </p:cNvPr>
          <p:cNvSpPr/>
          <p:nvPr/>
        </p:nvSpPr>
        <p:spPr>
          <a:xfrm>
            <a:off x="842403" y="1367400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7068C-8016-6517-CA6F-4498B85F2C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38" y="1943100"/>
            <a:ext cx="9774762" cy="5522736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48236" y="55418"/>
            <a:ext cx="16377764" cy="9985182"/>
            <a:chOff x="-13841746" y="-1121759"/>
            <a:chExt cx="21837026" cy="13313575"/>
          </a:xfrm>
        </p:grpSpPr>
        <p:sp>
          <p:nvSpPr>
            <p:cNvPr id="4" name="TextBox 4"/>
            <p:cNvSpPr txBox="1"/>
            <p:nvPr/>
          </p:nvSpPr>
          <p:spPr>
            <a:xfrm>
              <a:off x="-13841746" y="-1121759"/>
              <a:ext cx="15951203" cy="15405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9360"/>
                </a:lnSpc>
              </a:pPr>
              <a:r>
                <a:rPr lang="en-US" sz="7800" b="1" spc="-234" dirty="0">
                  <a:solidFill>
                    <a:schemeClr val="accent1">
                      <a:lumMod val="50000"/>
                    </a:schemeClr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Clinical Applications</a:t>
              </a:r>
              <a:r>
                <a:rPr lang="en-US" sz="7800" b="1" spc="-234" baseline="30000" dirty="0">
                  <a:solidFill>
                    <a:schemeClr val="accent1">
                      <a:lumMod val="50000"/>
                    </a:schemeClr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7-9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144059" y="988750"/>
              <a:ext cx="9139339" cy="112030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1.Tumour profiling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Genome-wide detection of SNVs, CNVs, structural variants  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Distinguishes driver vs passenger mutations  </a:t>
              </a:r>
            </a:p>
            <a:p>
              <a:endPara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endParaRP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2. Targeted therapy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Links mutations to pathways </a:t>
              </a:r>
            </a:p>
            <a:p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(EGFR, BRAF, BRCA)  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Therapy depends on pathway activation  </a:t>
              </a:r>
            </a:p>
            <a:p>
              <a:endPara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endParaRP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3. Immunotherapy selection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Biomarkers: tumour mutational burden (TMB), microsatellite instability (MSI) 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Predictive value varies across patients  </a:t>
              </a:r>
            </a:p>
            <a:p>
              <a:endPara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endParaRP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4. Disease monitoring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ctDNA detects tumour burden and relapse  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Limited sensitivity in early disease  </a:t>
              </a:r>
            </a:p>
            <a:p>
              <a:endPara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endParaRP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5. Hereditary risk assessment </a:t>
              </a:r>
            </a:p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</a:t>
              </a: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Detects germline variants (BRCA1, BRCA2)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4E3DAEE-FA42-452E-5561-F895988ECFFC}"/>
              </a:ext>
            </a:extLst>
          </p:cNvPr>
          <p:cNvSpPr txBox="1"/>
          <p:nvPr/>
        </p:nvSpPr>
        <p:spPr>
          <a:xfrm>
            <a:off x="762000" y="6718637"/>
            <a:ext cx="952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Figure 4. 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Clinical applications of NGS showing its role in tumour profiling, targeted therapy selection, immunotherapy prediction, hereditary risk assessment, and disease monitoring. Adapted from </a:t>
            </a:r>
            <a:r>
              <a:rPr lang="en-GB" sz="2000" dirty="0"/>
              <a:t>⁷⁻⁹. </a:t>
            </a:r>
            <a:r>
              <a:rPr lang="en-GB" sz="20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Created in BioRender.</a:t>
            </a:r>
            <a:endParaRPr lang="en-GB" sz="2000" i="1" dirty="0">
              <a:solidFill>
                <a:schemeClr val="tx2">
                  <a:lumMod val="50000"/>
                </a:schemeClr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ED53D5CC-4EA7-B410-6455-57A2909C7F48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7F221-8D89-2559-5242-DC8D120852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6" t="22170" r="1495" b="13506"/>
          <a:stretch>
            <a:fillRect/>
          </a:stretch>
        </p:blipFill>
        <p:spPr>
          <a:xfrm>
            <a:off x="905514" y="2095500"/>
            <a:ext cx="9381486" cy="4455936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D062-1759-98E9-BB39-0C792213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18FFC18-3D96-769F-E16D-7B8C3A538EEE}"/>
              </a:ext>
            </a:extLst>
          </p:cNvPr>
          <p:cNvGrpSpPr/>
          <p:nvPr/>
        </p:nvGrpSpPr>
        <p:grpSpPr>
          <a:xfrm>
            <a:off x="1148236" y="55418"/>
            <a:ext cx="17139764" cy="6804666"/>
            <a:chOff x="-13841746" y="-1121759"/>
            <a:chExt cx="22853026" cy="907288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FE3E670-5E83-D126-F795-125EB789DBC3}"/>
                </a:ext>
              </a:extLst>
            </p:cNvPr>
            <p:cNvSpPr txBox="1"/>
            <p:nvPr/>
          </p:nvSpPr>
          <p:spPr>
            <a:xfrm>
              <a:off x="-13841746" y="-1121759"/>
              <a:ext cx="22853026" cy="15405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9360"/>
                </a:lnSpc>
              </a:pPr>
              <a:r>
                <a:rPr lang="en-US" sz="7800" b="1" spc="-234" dirty="0">
                  <a:solidFill>
                    <a:schemeClr val="accent1">
                      <a:lumMod val="50000"/>
                    </a:schemeClr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Challenges and Future Directions</a:t>
              </a:r>
              <a:r>
                <a:rPr lang="en-US" sz="7800" b="1" spc="-234" baseline="30000" dirty="0">
                  <a:solidFill>
                    <a:schemeClr val="accent1">
                      <a:lumMod val="50000"/>
                    </a:schemeClr>
                  </a:solidFill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  <a:sym typeface="Helvetica World"/>
                </a:rPr>
                <a:t>5-6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165F09C-D614-B065-48AD-E05AA2AB0DD9}"/>
                </a:ext>
              </a:extLst>
            </p:cNvPr>
            <p:cNvSpPr txBox="1"/>
            <p:nvPr/>
          </p:nvSpPr>
          <p:spPr>
            <a:xfrm>
              <a:off x="-2774324" y="2411150"/>
              <a:ext cx="10715313" cy="5539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Future approaches</a:t>
              </a:r>
              <a:b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</a:b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Single-cell sequencing: resolves tumour heterogeneity</a:t>
              </a:r>
            </a:p>
            <a:p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Long-read sequencing: improved detection of structural variants</a:t>
              </a:r>
            </a:p>
            <a:p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Multi-omics: links genotype to function</a:t>
              </a:r>
              <a:b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</a:br>
              <a:b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</a:br>
              <a:r>
                <a:rPr lang="en-GB" sz="2600" b="1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Core limitation</a:t>
              </a:r>
              <a:b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</a:b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Increasing data increases complexity</a:t>
              </a:r>
              <a:b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</a:br>
              <a:r>
                <a:rPr lang="en-GB" sz="2600" dirty="0">
                  <a:latin typeface="Helvetica World" panose="020B0604020202020204" charset="-128"/>
                  <a:ea typeface="Helvetica World" panose="020B0604020202020204" charset="-128"/>
                  <a:cs typeface="Helvetica World" panose="020B0604020202020204" charset="-128"/>
                </a:rPr>
                <a:t>• Interpretation remains the bottleneck</a:t>
              </a:r>
              <a:endParaRPr lang="en-GB" sz="2600" spc="-78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DD3D88-C0F5-17E4-A9E3-1E294C71D16B}"/>
              </a:ext>
            </a:extLst>
          </p:cNvPr>
          <p:cNvSpPr txBox="1"/>
          <p:nvPr/>
        </p:nvSpPr>
        <p:spPr>
          <a:xfrm>
            <a:off x="863185" y="8909634"/>
            <a:ext cx="81284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tx2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Figure 5. </a:t>
            </a:r>
            <a:r>
              <a:rPr lang="en-GB" sz="20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Key challenges of NGS: data interpretation, cost and accessibility, ethical issues, turnaround time, and need for specialised expertise. Adapted from ⁵⁻⁶.</a:t>
            </a:r>
            <a:endParaRPr lang="en-GB" sz="2000" i="1" dirty="0">
              <a:solidFill>
                <a:schemeClr val="tx2">
                  <a:lumMod val="50000"/>
                </a:schemeClr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graphicFrame>
        <p:nvGraphicFramePr>
          <p:cNvPr id="2" name="TextBox 2">
            <a:extLst>
              <a:ext uri="{FF2B5EF4-FFF2-40B4-BE49-F238E27FC236}">
                <a16:creationId xmlns:a16="http://schemas.microsoft.com/office/drawing/2014/main" id="{CF429A91-A570-40E3-D154-3B986C78B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688921"/>
              </p:ext>
            </p:extLst>
          </p:nvPr>
        </p:nvGraphicFramePr>
        <p:xfrm>
          <a:off x="792000" y="1571314"/>
          <a:ext cx="8352000" cy="7182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AutoShape 6">
            <a:extLst>
              <a:ext uri="{FF2B5EF4-FFF2-40B4-BE49-F238E27FC236}">
                <a16:creationId xmlns:a16="http://schemas.microsoft.com/office/drawing/2014/main" id="{E5B6DC3D-F01F-8F40-E608-1E9273782936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62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7D23-B7E2-7B50-BD88-60ABFA7F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AF0CF0-6E78-2D3D-570B-7CB64C441895}"/>
              </a:ext>
            </a:extLst>
          </p:cNvPr>
          <p:cNvSpPr txBox="1"/>
          <p:nvPr/>
        </p:nvSpPr>
        <p:spPr>
          <a:xfrm>
            <a:off x="1148236" y="55418"/>
            <a:ext cx="11963398" cy="1155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360"/>
              </a:lnSpc>
            </a:pPr>
            <a:r>
              <a:rPr lang="en-US" sz="7800" b="1" spc="-234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Conclusion</a:t>
            </a:r>
            <a:r>
              <a:rPr lang="en-US" sz="7800" b="1" spc="-234" baseline="30000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3-4,7</a:t>
            </a:r>
          </a:p>
        </p:txBody>
      </p:sp>
      <p:sp>
        <p:nvSpPr>
          <p:cNvPr id="11" name="TextBox 3"/>
          <p:cNvSpPr txBox="1"/>
          <p:nvPr/>
        </p:nvSpPr>
        <p:spPr>
          <a:xfrm>
            <a:off x="914400" y="2027259"/>
            <a:ext cx="8530198" cy="62324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1. Cancer biology</a:t>
            </a:r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Genomically heterogeneous and dynamically evolving 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Driven by pathway-level alterations rather than single gene events </a:t>
            </a:r>
          </a:p>
          <a:p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2. NGS capability</a:t>
            </a:r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Enables unbiased genome-wide profiling </a:t>
            </a: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Detection is constrained by the sequencing platform, sequencing depth, and analytical pipeline</a:t>
            </a:r>
          </a:p>
          <a:p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3. Clinical reality</a:t>
            </a:r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Only a minority of variants are clinically actionable</a:t>
            </a:r>
          </a:p>
          <a:p>
            <a:endParaRPr lang="en-GB" sz="2600" b="1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  <a:p>
            <a:r>
              <a:rPr lang="en-GB" sz="26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Key challenge: identifying biologically meaningful and clinically relevant alterations</a:t>
            </a:r>
            <a:endParaRPr lang="en-GB" sz="2600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DBD78-F8B7-836B-6459-D92952BFB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999" y="2524776"/>
            <a:ext cx="7856165" cy="5237443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sp>
        <p:nvSpPr>
          <p:cNvPr id="2" name="AutoShape 6">
            <a:extLst>
              <a:ext uri="{FF2B5EF4-FFF2-40B4-BE49-F238E27FC236}">
                <a16:creationId xmlns:a16="http://schemas.microsoft.com/office/drawing/2014/main" id="{43689F57-3EE4-E865-35E4-BB683FE14DE3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11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6D2D-8781-4ABF-32F2-52CC8064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2F6D9-86C5-E90A-0AEC-6B9D9CCFBF07}"/>
              </a:ext>
            </a:extLst>
          </p:cNvPr>
          <p:cNvSpPr txBox="1"/>
          <p:nvPr/>
        </p:nvSpPr>
        <p:spPr>
          <a:xfrm>
            <a:off x="842404" y="1714500"/>
            <a:ext cx="16531196" cy="823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Eren K,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Taktakoğlu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N,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Pirim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I. DNA sequencing methods: from past to present.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Eurasian J Med.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2022;54(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Suppl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1):S47–S56. doi:10.5152/eurasianjmed.2022.22280.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Heather JM, Chain B. The sequence of sequencers: the history of sequencing DNA.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Genomics. 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2016;107(1):1–8. doi:10.1016/j.ygeno.2015.11.003.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Mardis ER. The impact of next-generation sequencing on cancer genomics: from discovery to clinic.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Cold Spring Harb </a:t>
            </a:r>
            <a:r>
              <a:rPr lang="en-GB" sz="2300" i="1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Perspect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Med.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2019;9(9):a036269. doi:10.1101/cshperspect.a036269.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Kamps R, Brandão RD, Bosch BJ,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Paulussen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AD,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Xanthoulea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S, Blok MJ, et al. Next-generation sequencing in oncology: genetic diagnosis, risk prediction and cancer classification.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Int J Mol Sci.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2017;18(2):308. doi:10.3390/ijms18020308.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Satam H, Joshi K,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Mangrolia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U,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Waghoo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S, Zaidi G, 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Rawool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S, et al. Next-generation sequencing technology: current trends and advancements.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Biology (Basel).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2023;12(7):997. doi:10.3390/biology12070997.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Cheng C, Fei Z, Xiao P. Methods to improve the accuracy of next-generation sequencing.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Front </a:t>
            </a:r>
            <a:r>
              <a:rPr lang="en-GB" sz="2300" i="1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Bioeng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</a:t>
            </a:r>
            <a:r>
              <a:rPr lang="en-GB" sz="2300" i="1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Biotechnol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2023;11:982111. doi:10.3389/fbioe.2023.982111.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Ghoreyshi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N, Heidari R, Farhadi A, Chamanara M, Farahani N, Vahidi M, et al. Next-generation sequencing in cancer diagnosis and treatment: clinical applications and future directions. </a:t>
            </a:r>
            <a:r>
              <a:rPr lang="en-GB" sz="2300" i="1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Discov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Oncol.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2025;16(1):578. doi:10.1007/s12672-025-01816-9.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Kim JW, Na HY, Lee S, Kim JW, Suh KJ, Kim SH, et al. Clinical implementation of next-generation sequencing testing and genomically matched therapy: real-world data in a tertiary hospital. 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Sci Rep.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2025;15:2171. doi:10.1038/s41598-024-84909-9.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Colomer R, Miranda J, Romero-</a:t>
            </a:r>
            <a:r>
              <a:rPr lang="en-GB" sz="2300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Laorden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N, Hornedo J, González-Cortijo L, Mouron S, et al. Usefulness and real-world outcomes of next generation sequencing testing in patients with cancer: an observational study on the impact of selection based on clinical judgement. </a:t>
            </a:r>
            <a:r>
              <a:rPr lang="en-GB" sz="2300" i="1" dirty="0" err="1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eClinicalMedicine</a:t>
            </a: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.</a:t>
            </a:r>
            <a: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 2023;60:102029. doi:10.1016/j.eclinm.2023.102029.</a:t>
            </a:r>
          </a:p>
          <a:p>
            <a:r>
              <a:rPr lang="en-GB" sz="2300" b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Acknowledgement:</a:t>
            </a:r>
            <a:br>
              <a:rPr lang="en-GB" sz="2300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</a:br>
            <a:r>
              <a:rPr lang="en-GB" sz="2300" i="1" dirty="0"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The cover and conclusion images were generated using AI and are included for visual illustration purposes only.</a:t>
            </a:r>
            <a:endParaRPr lang="en-GB" sz="2300" b="1" dirty="0"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</a:endParaRPr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F707A5C2-C756-6CFF-19C3-CD17639B6A27}"/>
              </a:ext>
            </a:extLst>
          </p:cNvPr>
          <p:cNvSpPr/>
          <p:nvPr/>
        </p:nvSpPr>
        <p:spPr>
          <a:xfrm>
            <a:off x="838200" y="1295458"/>
            <a:ext cx="16369487" cy="9966"/>
          </a:xfrm>
          <a:prstGeom prst="line">
            <a:avLst/>
          </a:prstGeom>
          <a:ln w="139700" cap="flat">
            <a:solidFill>
              <a:schemeClr val="tx2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363586-145A-71D0-4406-7CEFA3E5BBEE}"/>
              </a:ext>
            </a:extLst>
          </p:cNvPr>
          <p:cNvSpPr txBox="1"/>
          <p:nvPr/>
        </p:nvSpPr>
        <p:spPr>
          <a:xfrm>
            <a:off x="1148236" y="55418"/>
            <a:ext cx="11963398" cy="1155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360"/>
              </a:lnSpc>
            </a:pPr>
            <a:r>
              <a:rPr lang="en-US" sz="7800" b="1" spc="-234" dirty="0">
                <a:solidFill>
                  <a:schemeClr val="accent1">
                    <a:lumMod val="50000"/>
                  </a:schemeClr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  <a:sym typeface="Helvetica World"/>
              </a:rPr>
              <a:t>References</a:t>
            </a:r>
            <a:endParaRPr lang="en-US" sz="7800" b="1" spc="-234" baseline="30000" dirty="0">
              <a:solidFill>
                <a:schemeClr val="accent1">
                  <a:lumMod val="50000"/>
                </a:schemeClr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377555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1635</TotalTime>
  <Words>2551</Words>
  <Application>Microsoft Office PowerPoint</Application>
  <PresentationFormat>Custom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Helvetica World</vt:lpstr>
      <vt:lpstr>Neue Einstellung</vt:lpstr>
      <vt:lpstr>Aptos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C-Terminal Tagging of AGO2</dc:title>
  <dc:creator>Genel</dc:creator>
  <cp:lastModifiedBy>Eylul Turkay</cp:lastModifiedBy>
  <cp:revision>44</cp:revision>
  <dcterms:created xsi:type="dcterms:W3CDTF">2006-08-16T00:00:00Z</dcterms:created>
  <dcterms:modified xsi:type="dcterms:W3CDTF">2026-10-05T18:46:58Z</dcterms:modified>
  <dc:identifier>DAHE83Rz6bw</dc:identifier>
</cp:coreProperties>
</file>