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03" autoAdjust="0"/>
  </p:normalViewPr>
  <p:slideViewPr>
    <p:cSldViewPr snapToGrid="0">
      <p:cViewPr>
        <p:scale>
          <a:sx n="75" d="100"/>
          <a:sy n="75" d="100"/>
        </p:scale>
        <p:origin x="166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lul Turkay" userId="ec50d3ee8444ec98" providerId="LiveId" clId="{D44D8142-F35E-4E28-B515-30E70FFDD49D}"/>
    <pc:docChg chg="custSel modSld">
      <pc:chgData name="Eylul Turkay" userId="ec50d3ee8444ec98" providerId="LiveId" clId="{D44D8142-F35E-4E28-B515-30E70FFDD49D}" dt="2026-09-09T14:43:38.499" v="150" actId="255"/>
      <pc:docMkLst>
        <pc:docMk/>
      </pc:docMkLst>
      <pc:sldChg chg="modSp mod">
        <pc:chgData name="Eylul Turkay" userId="ec50d3ee8444ec98" providerId="LiveId" clId="{D44D8142-F35E-4E28-B515-30E70FFDD49D}" dt="2026-09-09T14:43:38.499" v="150" actId="255"/>
        <pc:sldMkLst>
          <pc:docMk/>
          <pc:sldMk cId="3047673862" sldId="259"/>
        </pc:sldMkLst>
        <pc:spChg chg="mod">
          <ac:chgData name="Eylul Turkay" userId="ec50d3ee8444ec98" providerId="LiveId" clId="{D44D8142-F35E-4E28-B515-30E70FFDD49D}" dt="2026-09-09T14:33:19.415" v="95" actId="115"/>
          <ac:spMkLst>
            <pc:docMk/>
            <pc:sldMk cId="3047673862" sldId="259"/>
            <ac:spMk id="2" creationId="{9F5ECD36-26EB-BB7F-475D-3684AEA2AF6F}"/>
          </ac:spMkLst>
        </pc:spChg>
        <pc:spChg chg="mod">
          <ac:chgData name="Eylul Turkay" userId="ec50d3ee8444ec98" providerId="LiveId" clId="{D44D8142-F35E-4E28-B515-30E70FFDD49D}" dt="2026-09-09T14:43:38.499" v="150" actId="255"/>
          <ac:spMkLst>
            <pc:docMk/>
            <pc:sldMk cId="3047673862" sldId="259"/>
            <ac:spMk id="3" creationId="{041BE492-13DC-8DA6-15DF-2111887D9C50}"/>
          </ac:spMkLst>
        </pc:spChg>
        <pc:spChg chg="mod">
          <ac:chgData name="Eylul Turkay" userId="ec50d3ee8444ec98" providerId="LiveId" clId="{D44D8142-F35E-4E28-B515-30E70FFDD49D}" dt="2026-09-09T14:33:36.305" v="97" actId="1076"/>
          <ac:spMkLst>
            <pc:docMk/>
            <pc:sldMk cId="3047673862" sldId="259"/>
            <ac:spMk id="7" creationId="{0EC8A64A-45B1-B5E8-D747-45A7BE56CA32}"/>
          </ac:spMkLst>
        </pc:spChg>
      </pc:sldChg>
      <pc:sldChg chg="modSp mod">
        <pc:chgData name="Eylul Turkay" userId="ec50d3ee8444ec98" providerId="LiveId" clId="{D44D8142-F35E-4E28-B515-30E70FFDD49D}" dt="2026-09-09T14:32:37.132" v="94" actId="27636"/>
        <pc:sldMkLst>
          <pc:docMk/>
          <pc:sldMk cId="1017334974" sldId="261"/>
        </pc:sldMkLst>
        <pc:spChg chg="mod">
          <ac:chgData name="Eylul Turkay" userId="ec50d3ee8444ec98" providerId="LiveId" clId="{D44D8142-F35E-4E28-B515-30E70FFDD49D}" dt="2026-09-09T14:32:37.132" v="94" actId="27636"/>
          <ac:spMkLst>
            <pc:docMk/>
            <pc:sldMk cId="1017334974" sldId="261"/>
            <ac:spMk id="2" creationId="{46E27332-CDAC-5B81-BA43-16C8742BA0D9}"/>
          </ac:spMkLst>
        </pc:spChg>
        <pc:picChg chg="mod">
          <ac:chgData name="Eylul Turkay" userId="ec50d3ee8444ec98" providerId="LiveId" clId="{D44D8142-F35E-4E28-B515-30E70FFDD49D}" dt="2026-09-05T19:15:52.588" v="0" actId="14100"/>
          <ac:picMkLst>
            <pc:docMk/>
            <pc:sldMk cId="1017334974" sldId="261"/>
            <ac:picMk id="7" creationId="{00000000-0000-0000-0000-000000000000}"/>
          </ac:picMkLst>
        </pc:picChg>
        <pc:picChg chg="mod">
          <ac:chgData name="Eylul Turkay" userId="ec50d3ee8444ec98" providerId="LiveId" clId="{D44D8142-F35E-4E28-B515-30E70FFDD49D}" dt="2026-09-05T19:16:07.786" v="8" actId="14100"/>
          <ac:picMkLst>
            <pc:docMk/>
            <pc:sldMk cId="1017334974" sldId="261"/>
            <ac:picMk id="9" creationId="{00000000-0000-0000-0000-000000000000}"/>
          </ac:picMkLst>
        </pc:picChg>
      </pc:sldChg>
      <pc:sldChg chg="addSp delSp modSp mod">
        <pc:chgData name="Eylul Turkay" userId="ec50d3ee8444ec98" providerId="LiveId" clId="{D44D8142-F35E-4E28-B515-30E70FFDD49D}" dt="2026-09-09T14:36:20.804" v="117" actId="1036"/>
        <pc:sldMkLst>
          <pc:docMk/>
          <pc:sldMk cId="1421052279" sldId="262"/>
        </pc:sldMkLst>
        <pc:graphicFrameChg chg="del modGraphic">
          <ac:chgData name="Eylul Turkay" userId="ec50d3ee8444ec98" providerId="LiveId" clId="{D44D8142-F35E-4E28-B515-30E70FFDD49D}" dt="2026-09-09T14:30:15.367" v="28" actId="478"/>
          <ac:graphicFrameMkLst>
            <pc:docMk/>
            <pc:sldMk cId="1421052279" sldId="262"/>
            <ac:graphicFrameMk id="8" creationId="{00000000-0000-0000-0000-000000000000}"/>
          </ac:graphicFrameMkLst>
        </pc:graphicFrameChg>
        <pc:picChg chg="add mod">
          <ac:chgData name="Eylul Turkay" userId="ec50d3ee8444ec98" providerId="LiveId" clId="{D44D8142-F35E-4E28-B515-30E70FFDD49D}" dt="2026-09-09T14:36:20.804" v="117" actId="1036"/>
          <ac:picMkLst>
            <pc:docMk/>
            <pc:sldMk cId="1421052279" sldId="262"/>
            <ac:picMk id="4" creationId="{EB1A5233-0B65-2A86-D1BB-C94DC42DF009}"/>
          </ac:picMkLst>
        </pc:picChg>
        <pc:picChg chg="del mod">
          <ac:chgData name="Eylul Turkay" userId="ec50d3ee8444ec98" providerId="LiveId" clId="{D44D8142-F35E-4E28-B515-30E70FFDD49D}" dt="2026-09-09T14:35:58.374" v="108" actId="478"/>
          <ac:picMkLst>
            <pc:docMk/>
            <pc:sldMk cId="1421052279" sldId="262"/>
            <ac:picMk id="7" creationId="{00000000-0000-0000-0000-000000000000}"/>
          </ac:picMkLst>
        </pc:picChg>
      </pc:sldChg>
      <pc:sldChg chg="delSp modSp mod">
        <pc:chgData name="Eylul Turkay" userId="ec50d3ee8444ec98" providerId="LiveId" clId="{D44D8142-F35E-4E28-B515-30E70FFDD49D}" dt="2026-09-09T14:36:39.895" v="122" actId="1035"/>
        <pc:sldMkLst>
          <pc:docMk/>
          <pc:sldMk cId="4099723751" sldId="263"/>
        </pc:sldMkLst>
        <pc:graphicFrameChg chg="del mod modGraphic">
          <ac:chgData name="Eylul Turkay" userId="ec50d3ee8444ec98" providerId="LiveId" clId="{D44D8142-F35E-4E28-B515-30E70FFDD49D}" dt="2026-09-09T14:30:22.352" v="30" actId="478"/>
          <ac:graphicFrameMkLst>
            <pc:docMk/>
            <pc:sldMk cId="4099723751" sldId="263"/>
            <ac:graphicFrameMk id="7" creationId="{00000000-0000-0000-0000-000000000000}"/>
          </ac:graphicFrameMkLst>
        </pc:graphicFrameChg>
        <pc:picChg chg="mod">
          <ac:chgData name="Eylul Turkay" userId="ec50d3ee8444ec98" providerId="LiveId" clId="{D44D8142-F35E-4E28-B515-30E70FFDD49D}" dt="2026-09-09T14:36:39.895" v="122" actId="1035"/>
          <ac:picMkLst>
            <pc:docMk/>
            <pc:sldMk cId="4099723751" sldId="263"/>
            <ac:picMk id="6" creationId="{00000000-0000-0000-0000-000000000000}"/>
          </ac:picMkLst>
        </pc:picChg>
      </pc:sldChg>
      <pc:sldChg chg="delSp modSp mod">
        <pc:chgData name="Eylul Turkay" userId="ec50d3ee8444ec98" providerId="LiveId" clId="{D44D8142-F35E-4E28-B515-30E70FFDD49D}" dt="2026-09-09T14:37:02.120" v="126" actId="14100"/>
        <pc:sldMkLst>
          <pc:docMk/>
          <pc:sldMk cId="1411585697" sldId="264"/>
        </pc:sldMkLst>
        <pc:graphicFrameChg chg="del modGraphic">
          <ac:chgData name="Eylul Turkay" userId="ec50d3ee8444ec98" providerId="LiveId" clId="{D44D8142-F35E-4E28-B515-30E70FFDD49D}" dt="2026-09-09T14:30:31.688" v="32" actId="478"/>
          <ac:graphicFrameMkLst>
            <pc:docMk/>
            <pc:sldMk cId="1411585697" sldId="264"/>
            <ac:graphicFrameMk id="10" creationId="{00000000-0000-0000-0000-000000000000}"/>
          </ac:graphicFrameMkLst>
        </pc:graphicFrameChg>
        <pc:picChg chg="mod modCrop">
          <ac:chgData name="Eylul Turkay" userId="ec50d3ee8444ec98" providerId="LiveId" clId="{D44D8142-F35E-4E28-B515-30E70FFDD49D}" dt="2026-09-09T14:37:02.120" v="126" actId="14100"/>
          <ac:picMkLst>
            <pc:docMk/>
            <pc:sldMk cId="1411585697" sldId="264"/>
            <ac:picMk id="8" creationId="{00000000-0000-0000-0000-000000000000}"/>
          </ac:picMkLst>
        </pc:picChg>
      </pc:sldChg>
      <pc:sldChg chg="modSp mod">
        <pc:chgData name="Eylul Turkay" userId="ec50d3ee8444ec98" providerId="LiveId" clId="{D44D8142-F35E-4E28-B515-30E70FFDD49D}" dt="2026-09-09T14:34:19.787" v="100" actId="1076"/>
        <pc:sldMkLst>
          <pc:docMk/>
          <pc:sldMk cId="4222182795" sldId="265"/>
        </pc:sldMkLst>
        <pc:graphicFrameChg chg="mod modGraphic">
          <ac:chgData name="Eylul Turkay" userId="ec50d3ee8444ec98" providerId="LiveId" clId="{D44D8142-F35E-4E28-B515-30E70FFDD49D}" dt="2026-09-09T14:34:16.566" v="99" actId="1076"/>
          <ac:graphicFrameMkLst>
            <pc:docMk/>
            <pc:sldMk cId="4222182795" sldId="265"/>
            <ac:graphicFrameMk id="8" creationId="{00000000-0000-0000-0000-000000000000}"/>
          </ac:graphicFrameMkLst>
        </pc:graphicFrameChg>
        <pc:picChg chg="mod">
          <ac:chgData name="Eylul Turkay" userId="ec50d3ee8444ec98" providerId="LiveId" clId="{D44D8142-F35E-4E28-B515-30E70FFDD49D}" dt="2026-09-09T14:34:19.787" v="100" actId="1076"/>
          <ac:picMkLst>
            <pc:docMk/>
            <pc:sldMk cId="4222182795" sldId="265"/>
            <ac:picMk id="6" creationId="{00000000-0000-0000-0000-000000000000}"/>
          </ac:picMkLst>
        </pc:picChg>
      </pc:sldChg>
      <pc:sldChg chg="modSp mod">
        <pc:chgData name="Eylul Turkay" userId="ec50d3ee8444ec98" providerId="LiveId" clId="{D44D8142-F35E-4E28-B515-30E70FFDD49D}" dt="2026-09-09T14:30:41.754" v="35" actId="14100"/>
        <pc:sldMkLst>
          <pc:docMk/>
          <pc:sldMk cId="1017334974" sldId="267"/>
        </pc:sldMkLst>
        <pc:picChg chg="mod">
          <ac:chgData name="Eylul Turkay" userId="ec50d3ee8444ec98" providerId="LiveId" clId="{D44D8142-F35E-4E28-B515-30E70FFDD49D}" dt="2026-09-09T14:30:41.754" v="35" actId="14100"/>
          <ac:picMkLst>
            <pc:docMk/>
            <pc:sldMk cId="1017334974" sldId="267"/>
            <ac:picMk id="11" creationId="{00000000-0000-0000-0000-000000000000}"/>
          </ac:picMkLst>
        </pc:picChg>
      </pc:sldChg>
      <pc:sldChg chg="modSp mod">
        <pc:chgData name="Eylul Turkay" userId="ec50d3ee8444ec98" providerId="LiveId" clId="{D44D8142-F35E-4E28-B515-30E70FFDD49D}" dt="2026-09-09T14:37:45.083" v="142" actId="1035"/>
        <pc:sldMkLst>
          <pc:docMk/>
          <pc:sldMk cId="4099723751" sldId="268"/>
        </pc:sldMkLst>
        <pc:picChg chg="mod">
          <ac:chgData name="Eylul Turkay" userId="ec50d3ee8444ec98" providerId="LiveId" clId="{D44D8142-F35E-4E28-B515-30E70FFDD49D}" dt="2026-09-09T14:37:45.083" v="142" actId="1035"/>
          <ac:picMkLst>
            <pc:docMk/>
            <pc:sldMk cId="4099723751" sldId="268"/>
            <ac:picMk id="9" creationId="{00000000-0000-0000-0000-000000000000}"/>
          </ac:picMkLst>
        </pc:picChg>
        <pc:picChg chg="mod">
          <ac:chgData name="Eylul Turkay" userId="ec50d3ee8444ec98" providerId="LiveId" clId="{D44D8142-F35E-4E28-B515-30E70FFDD49D}" dt="2026-09-09T14:37:39.350" v="132" actId="1037"/>
          <ac:picMkLst>
            <pc:docMk/>
            <pc:sldMk cId="4099723751" sldId="268"/>
            <ac:picMk id="10" creationId="{00000000-0000-0000-0000-000000000000}"/>
          </ac:picMkLst>
        </pc:picChg>
      </pc:sldChg>
      <pc:sldChg chg="modSp mod">
        <pc:chgData name="Eylul Turkay" userId="ec50d3ee8444ec98" providerId="LiveId" clId="{D44D8142-F35E-4E28-B515-30E70FFDD49D}" dt="2026-09-09T14:41:13.311" v="147" actId="1076"/>
        <pc:sldMkLst>
          <pc:docMk/>
          <pc:sldMk cId="3047673862" sldId="270"/>
        </pc:sldMkLst>
        <pc:picChg chg="mod">
          <ac:chgData name="Eylul Turkay" userId="ec50d3ee8444ec98" providerId="LiveId" clId="{D44D8142-F35E-4E28-B515-30E70FFDD49D}" dt="2026-09-09T14:41:13.311" v="147" actId="1076"/>
          <ac:picMkLst>
            <pc:docMk/>
            <pc:sldMk cId="3047673862" sldId="270"/>
            <ac:picMk id="19" creationId="{00000000-0000-0000-0000-000000000000}"/>
          </ac:picMkLst>
        </pc:picChg>
      </pc:sldChg>
      <pc:sldChg chg="modSp mod modNotesTx">
        <pc:chgData name="Eylul Turkay" userId="ec50d3ee8444ec98" providerId="LiveId" clId="{D44D8142-F35E-4E28-B515-30E70FFDD49D}" dt="2026-09-09T14:38:54.291" v="146" actId="1076"/>
        <pc:sldMkLst>
          <pc:docMk/>
          <pc:sldMk cId="2279276640" sldId="271"/>
        </pc:sldMkLst>
        <pc:spChg chg="mod">
          <ac:chgData name="Eylul Turkay" userId="ec50d3ee8444ec98" providerId="LiveId" clId="{D44D8142-F35E-4E28-B515-30E70FFDD49D}" dt="2026-09-09T14:31:24.001" v="83" actId="255"/>
          <ac:spMkLst>
            <pc:docMk/>
            <pc:sldMk cId="2279276640" sldId="271"/>
            <ac:spMk id="2" creationId="{46E27332-CDAC-5B81-BA43-16C8742BA0D9}"/>
          </ac:spMkLst>
        </pc:spChg>
        <pc:spChg chg="mod">
          <ac:chgData name="Eylul Turkay" userId="ec50d3ee8444ec98" providerId="LiveId" clId="{D44D8142-F35E-4E28-B515-30E70FFDD49D}" dt="2026-09-09T14:38:51.371" v="145" actId="1076"/>
          <ac:spMkLst>
            <pc:docMk/>
            <pc:sldMk cId="2279276640" sldId="271"/>
            <ac:spMk id="3" creationId="{2E0919DF-4D08-EA96-AD8C-E0C049037261}"/>
          </ac:spMkLst>
        </pc:spChg>
        <pc:spChg chg="mod">
          <ac:chgData name="Eylul Turkay" userId="ec50d3ee8444ec98" providerId="LiveId" clId="{D44D8142-F35E-4E28-B515-30E70FFDD49D}" dt="2026-09-09T14:38:54.291" v="146" actId="1076"/>
          <ac:spMkLst>
            <pc:docMk/>
            <pc:sldMk cId="2279276640" sldId="271"/>
            <ac:spMk id="4" creationId="{73E21C93-78BE-420C-40AC-17A8F63FD7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000">
                <a:latin typeface="Arial"/>
                <a:ea typeface="Arial"/>
                <a:cs typeface="Arial"/>
              </a:rPr>
              <a:t>Good afternoon. This project investigated which region of the tumour suppressor LIMD1 associates with the E3 ubiquitin ligase ARIH1. I generated a panel of recombinant LIMD1 fragments, assessed their expression and purification, and used selected fragments in pull-down experiments to test whether ARIH1 recovery could be mapped to a specific region.</a:t>
            </a:r>
          </a:p>
          <a:p>
            <a:pPr>
              <a:buNone/>
            </a:pPr>
            <a:endParaRPr sz="1000">
              <a:latin typeface="Arial"/>
              <a:ea typeface="Arial"/>
              <a:cs typeface="Arial"/>
            </a:endParaRPr>
          </a:p>
          <a:p>
            <a:pPr>
              <a:buNone/>
            </a:pPr>
            <a:r>
              <a:t>[Sources]</a:t>
            </a:r>
            <a:endParaRPr sz="1000">
              <a:latin typeface="Arial"/>
              <a:ea typeface="Arial"/>
              <a:cs typeface="Arial"/>
            </a:endParaRPr>
          </a:p>
          <a:p>
            <a:pPr>
              <a:buNone/>
            </a:pPr>
            <a:r>
              <a:rPr sz="1000">
                <a:latin typeface="Arial"/>
                <a:ea typeface="Arial"/>
                <a:cs typeface="Arial"/>
              </a:rPr>
              <a:t>Turkay, E. 2026, MSc dissertation, Abstract and pages 18 to 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LIMD1 is a 676 amino acid scaffold protein encoded at chromosome 3p21.3. It contains a pre-LIM region and three C-terminal LIM domains.</a:t>
            </a:r>
          </a:p>
          <a:p>
            <a:endParaRPr dirty="0"/>
          </a:p>
          <a:p>
            <a:r>
              <a:rPr dirty="0"/>
              <a:t>In the TRACERx cohort, LIMD1 loss was clonal in more than 80 percent of lung squamous cell carcinomas and around 40 percent of lung adenocarcinomas, indicating that it commonly occurs early.</a:t>
            </a:r>
          </a:p>
          <a:p>
            <a:endParaRPr dirty="0"/>
          </a:p>
          <a:p>
            <a:r>
              <a:rPr dirty="0"/>
              <a:t>[Point to the pathway]</a:t>
            </a:r>
          </a:p>
          <a:p>
            <a:endParaRPr dirty="0"/>
          </a:p>
          <a:p>
            <a:r>
              <a:rPr dirty="0"/>
              <a:t>LIMD1 supports ARIH1-dependent ubiquitination and degradation of PD-L1. LIMD1 loss can therefore </a:t>
            </a:r>
            <a:r>
              <a:rPr dirty="0" err="1"/>
              <a:t>stabilise</a:t>
            </a:r>
            <a:r>
              <a:rPr dirty="0"/>
              <a:t> PD-L1 and suppress anti-tumour T-cell activity. Mapping the ARIH1-associated region could help explain this route to immune evasion in lung cancer.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Shah et al. 2026, Life Science Alliance, volume 9, issue 10.</a:t>
            </a:r>
          </a:p>
          <a:p>
            <a:r>
              <a:rPr dirty="0"/>
              <a:t>Turkay, E. 2026, MSc dissertation, pages 1 to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Previous work supports an association between full-length LIMD1 and ARIH1, but the responsible region remains unknown.</a:t>
            </a:r>
          </a:p>
          <a:p>
            <a:endParaRPr dirty="0"/>
          </a:p>
          <a:p>
            <a:r>
              <a:rPr dirty="0"/>
              <a:t>[Point to the selected constructs]</a:t>
            </a:r>
          </a:p>
          <a:p>
            <a:endParaRPr dirty="0"/>
          </a:p>
          <a:p>
            <a:r>
              <a:rPr dirty="0"/>
              <a:t>Construct 1 is full-length LIMD1. Constructs 2 and 3 contain residues 60 to 676 and 100 to 676. Construct 7 contains the LIM domains, while Construct 15 represents the pre-LIM region.</a:t>
            </a:r>
          </a:p>
          <a:p>
            <a:endParaRPr dirty="0"/>
          </a:p>
          <a:p>
            <a:r>
              <a:rPr dirty="0"/>
              <a:t>Constructs 2 and 3 test whether the first 99 residues are required. Constructs 7 and 15 provide a broad comparison between the LIM-domain and pre-LIM regions. Any candidate would require validation within full-length LIMD1.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4 to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hypothesis was that ARIH1 associates with a defined region of LIMD1. Removing that region should reduce ARIH1 recovery. This requires intact proteins at comparable levels.</a:t>
            </a:r>
          </a:p>
          <a:p>
            <a:endParaRPr dirty="0"/>
          </a:p>
          <a:p>
            <a:r>
              <a:rPr dirty="0"/>
              <a:t>Of the 24 planned constructs, Constructs 18, 20, 21 and 24 were unavailable and were not investigated.</a:t>
            </a:r>
          </a:p>
          <a:p>
            <a:endParaRPr dirty="0"/>
          </a:p>
          <a:p>
            <a:r>
              <a:rPr dirty="0"/>
              <a:t>The aims were to validate the available panel, assess expression, </a:t>
            </a:r>
            <a:r>
              <a:rPr dirty="0" err="1"/>
              <a:t>optimise</a:t>
            </a:r>
            <a:r>
              <a:rPr dirty="0"/>
              <a:t> purification and compare ARIH1 recovery using suitable truncations. The final set was selected after assessing recovery.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7 to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Sequence-verified plasmids were expressed in BL21 bacteria. Each protein carried a His tag for nickel purification and an MBP tag for amylose capture and detection.</a:t>
            </a:r>
          </a:p>
          <a:p>
            <a:endParaRPr dirty="0"/>
          </a:p>
          <a:p>
            <a:r>
              <a:rPr dirty="0"/>
              <a:t>[Follow the workflow]</a:t>
            </a:r>
          </a:p>
          <a:p>
            <a:endParaRPr dirty="0"/>
          </a:p>
          <a:p>
            <a:r>
              <a:rPr dirty="0"/>
              <a:t>After lysis and purification, selected LIMD1 proteins were </a:t>
            </a:r>
            <a:r>
              <a:rPr dirty="0" err="1"/>
              <a:t>immobilised</a:t>
            </a:r>
            <a:r>
              <a:rPr dirty="0"/>
              <a:t> on amylose beads and incubated with HEK293FT lysate containing endogenous ARIH1. Bound proteins were then </a:t>
            </a:r>
            <a:r>
              <a:rPr dirty="0" err="1"/>
              <a:t>analysed</a:t>
            </a:r>
            <a:r>
              <a:rPr dirty="0"/>
              <a:t> by immunoblotting.</a:t>
            </a:r>
          </a:p>
          <a:p>
            <a:endParaRPr dirty="0"/>
          </a:p>
          <a:p>
            <a:r>
              <a:rPr dirty="0"/>
              <a:t>FLAG-ARIH1 was generated for a reciprocal experiment, but its protein expression was not established and the pull-down was not completed. The conclusions therefore rely on the LIMD1-directed experiment.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methods and Figure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shows LIMD1 construct expression in BL21 cells before purification. Anti-His and anti-MBP detected tagged products across the panel, although the patterns varied.</a:t>
            </a:r>
          </a:p>
          <a:p>
            <a:endParaRPr dirty="0"/>
          </a:p>
          <a:p>
            <a:r>
              <a:rPr dirty="0"/>
              <a:t>Most constructs produced bands near their expected masses. Construct 5 mainly produced a smaller product. Construct 15 produced several bands, while Construct 22 showed comparatively weak expression.</a:t>
            </a:r>
          </a:p>
          <a:p>
            <a:endParaRPr dirty="0"/>
          </a:p>
          <a:p>
            <a:r>
              <a:rPr dirty="0"/>
              <a:t>Overall, the constructs were expressed, but purification was needed to assess the recovery and integrity of each protein.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20 to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Full-length LIMD1 was regenerated from Construct 15 by site-directed mutagenesis and designated Construct 1.</a:t>
            </a:r>
          </a:p>
          <a:p>
            <a:endParaRPr dirty="0"/>
          </a:p>
          <a:p>
            <a:r>
              <a:rPr dirty="0"/>
              <a:t>[Point to Construct 1]</a:t>
            </a:r>
          </a:p>
          <a:p>
            <a:endParaRPr dirty="0"/>
          </a:p>
          <a:p>
            <a:r>
              <a:rPr dirty="0"/>
              <a:t>Construct 1 produced anti-MBP and anti-LIMD1 signals near its expected mass of 117 kilodaltons, consistent with the full-length fusion protein.</a:t>
            </a:r>
          </a:p>
          <a:p>
            <a:endParaRPr dirty="0"/>
          </a:p>
          <a:p>
            <a:r>
              <a:rPr dirty="0"/>
              <a:t>[Point to Construct 5]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dirty="0"/>
          </a:p>
          <a:p>
            <a:r>
              <a:rPr dirty="0"/>
              <a:t>Construct 5 mainly produced MBP-reactive bands between 48 and 55 kilodaltons, well below its expected mass of 90 kilodaltons. Most of the detected protein was therefore shortened, which supported excluding Construct 5 from the final pull-down.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24 to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dirty="0"/>
              <a:t>I compared NP-40-assisted lysis with sonication. SI represents sonicated input, ME magnetic-bead elution and MF magnetic-bead flow-through.</a:t>
            </a:r>
          </a:p>
          <a:p>
            <a:endParaRPr dirty="0"/>
          </a:p>
          <a:p>
            <a:r>
              <a:rPr dirty="0"/>
              <a:t>[Point to the anti-MBP blot]</a:t>
            </a:r>
          </a:p>
          <a:p>
            <a:endParaRPr dirty="0"/>
          </a:p>
          <a:p>
            <a:r>
              <a:rPr dirty="0"/>
              <a:t>Full-length LIMD1 was detected near 117 kilodaltons in both inputs. Sonication produced greater elution recovery than NP-40 and was selected. Tagged protein remained in the flow-through, showing incomplete capture. Magnetic beads were therefore tested for constructs that performed poorly with spin columns.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30 to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Here, I represents input, E represents elution and FT represents flow-through.</a:t>
            </a:r>
          </a:p>
          <a:p>
            <a:endParaRPr dirty="0"/>
          </a:p>
          <a:p>
            <a:r>
              <a:rPr dirty="0"/>
              <a:t>[Point to Constructs 2 and 3]</a:t>
            </a:r>
          </a:p>
          <a:p>
            <a:endParaRPr dirty="0"/>
          </a:p>
          <a:p>
            <a:r>
              <a:rPr dirty="0"/>
              <a:t>Constructs 2 and 3 were present in the input but weak in the spin-column elution. This indicates poor recovery rather than absent expression.</a:t>
            </a:r>
          </a:p>
          <a:p>
            <a:endParaRPr dirty="0"/>
          </a:p>
          <a:p>
            <a:r>
              <a:rPr dirty="0"/>
              <a:t>Construct 5 produced a strong Coomassie band below its expected mass without a corresponding MBP signal, indicating that it was not the intended fusion protein. These results supported testing magnetic beads.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28 and 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[Point to Construct 7]</a:t>
            </a:r>
          </a:p>
          <a:p>
            <a:endParaRPr dirty="0"/>
          </a:p>
          <a:p>
            <a:r>
              <a:rPr dirty="0"/>
              <a:t>Construct 7 was present in the input but recovered only weakly in the spin-column elution.</a:t>
            </a:r>
          </a:p>
          <a:p>
            <a:endParaRPr dirty="0"/>
          </a:p>
          <a:p>
            <a:r>
              <a:rPr dirty="0"/>
              <a:t>[Point to Constructs 8 to 10]</a:t>
            </a:r>
          </a:p>
          <a:p>
            <a:endParaRPr dirty="0"/>
          </a:p>
          <a:p>
            <a:r>
              <a:rPr dirty="0"/>
              <a:t>Constructs 8 to 10 produced clearer elution bands near their expected masses. Recovery therefore depended on the LIMD1 fragment rather than the shared His tag alone.</a:t>
            </a:r>
          </a:p>
          <a:p>
            <a:endParaRPr dirty="0"/>
          </a:p>
          <a:p>
            <a:r>
              <a:rPr dirty="0"/>
              <a:t>Construct 7 was retained because it contained the complete LIM-domain region required for the broad mapping comparison.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28 and 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Magnetic beads recovered Constructs 1, 2, 3 and 15, although their yields remained unequal. These </a:t>
            </a:r>
            <a:r>
              <a:rPr dirty="0" err="1"/>
              <a:t>elutions</a:t>
            </a:r>
            <a:r>
              <a:rPr dirty="0"/>
              <a:t> were retained for the final pull-down.</a:t>
            </a:r>
          </a:p>
          <a:p>
            <a:endParaRPr dirty="0"/>
          </a:p>
          <a:p>
            <a:r>
              <a:rPr dirty="0"/>
              <a:t>Construct 5 produced a strong MBP signal, but its main product was smaller than expected. It was excluded because intact bait had not been demonstrated.</a:t>
            </a:r>
          </a:p>
          <a:p>
            <a:endParaRPr dirty="0"/>
          </a:p>
          <a:p>
            <a:r>
              <a:rPr dirty="0"/>
              <a:t>Construct 7 was not tested with magnetic beads, so its available spin-column preparation was used in the final assay.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33 to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Construct 17 was present in the input but was not detected in the magnetic-bead elution. Construct 19 was recovered.</a:t>
            </a:r>
          </a:p>
          <a:p>
            <a:endParaRPr dirty="0"/>
          </a:p>
          <a:p>
            <a:r>
              <a:rPr dirty="0"/>
              <a:t>Construct 17 could have refined the pre-LIM comparison, but it was excluded because purified bait was not demonstrated. This does not show that Construct 17 cannot associate with ARIH1.</a:t>
            </a:r>
          </a:p>
          <a:p>
            <a:endParaRPr dirty="0"/>
          </a:p>
          <a:p>
            <a:r>
              <a:rPr dirty="0"/>
              <a:t>The final bait panel therefore consisted of Constructs 1, 2, 3, 7 and 15.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33 to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gel compares the purified LIMD1 preparations. Underlined samples were purified using magnetic beads, while the remaining samples were obtained using spin columns.</a:t>
            </a:r>
          </a:p>
          <a:p>
            <a:endParaRPr dirty="0"/>
          </a:p>
          <a:p>
            <a:r>
              <a:rPr dirty="0"/>
              <a:t>[Point to Constructs 1, 2, 3, 7 and 15]</a:t>
            </a:r>
          </a:p>
          <a:p>
            <a:endParaRPr dirty="0"/>
          </a:p>
          <a:p>
            <a:r>
              <a:rPr dirty="0"/>
              <a:t>These five constructs were used in the final pull-down, but they contained unequal amounts of intact LIMD1.</a:t>
            </a:r>
          </a:p>
          <a:p>
            <a:endParaRPr dirty="0"/>
          </a:p>
          <a:p>
            <a:r>
              <a:rPr dirty="0"/>
              <a:t>Twenty </a:t>
            </a:r>
            <a:r>
              <a:rPr dirty="0" err="1"/>
              <a:t>microlitres</a:t>
            </a:r>
            <a:r>
              <a:rPr dirty="0"/>
              <a:t> of each preparation was used, but equal volume does not provide equal bait. ARIH1 recovery could therefore reflect bait availability rather than binding strength. This is the main technical limitation.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 37 and pages 41 to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the LIMD1-directed pull-down using untransfected HEK293FT lysate. I represents the lysate input and C represents the bead-only control.</a:t>
            </a:r>
          </a:p>
          <a:p>
            <a:endParaRPr dirty="0"/>
          </a:p>
          <a:p>
            <a:r>
              <a:rPr dirty="0"/>
              <a:t>[Point to the ARIH1 panel]</a:t>
            </a:r>
          </a:p>
          <a:p>
            <a:endParaRPr dirty="0"/>
          </a:p>
          <a:p>
            <a:r>
              <a:rPr dirty="0"/>
              <a:t>ARIH1 was detected in the input, but weak signals also appeared in the bead-only control and construct lanes. No construct showed clear enrichment above background.</a:t>
            </a:r>
          </a:p>
          <a:p>
            <a:endParaRPr dirty="0"/>
          </a:p>
          <a:p>
            <a:r>
              <a:rPr dirty="0"/>
              <a:t>[Point to the MBP and His panels]</a:t>
            </a:r>
          </a:p>
          <a:p>
            <a:endParaRPr dirty="0"/>
          </a:p>
          <a:p>
            <a:r>
              <a:rPr dirty="0"/>
              <a:t>Bait recovery varied markedly. Differences in ARIH1 signal could therefore reflect unequal bait rather than different binding.</a:t>
            </a:r>
          </a:p>
          <a:p>
            <a:endParaRPr dirty="0"/>
          </a:p>
          <a:p>
            <a:r>
              <a:rPr dirty="0"/>
              <a:t>AGO2 and PGAM5 also showed no construct-selective enrichment. Under these conditions, no ARIH1-associated LIMD1 region could be assigned or excluded.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38 to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Four limitations prevented a valid regional comparison.</a:t>
            </a:r>
          </a:p>
          <a:p>
            <a:endParaRPr dirty="0"/>
          </a:p>
          <a:p>
            <a:r>
              <a:rPr dirty="0"/>
              <a:t>Both tags were at the N-terminus, so shortened proteins could retain them while losing part of LIMD1. Bait integrity was therefore uncertain. Recovery was also unequal, ARIH1 was present in the bead-only control and the experiment was performed once.</a:t>
            </a:r>
          </a:p>
          <a:p>
            <a:endParaRPr dirty="0"/>
          </a:p>
          <a:p>
            <a:r>
              <a:rPr dirty="0"/>
              <a:t>The constructs were therefore non-comparable. A weak ARIH1 signal could reflect less intact bait or background rather than deletion of a binding site.</a:t>
            </a:r>
          </a:p>
          <a:p>
            <a:endParaRPr dirty="0"/>
          </a:p>
          <a:p>
            <a:r>
              <a:rPr dirty="0"/>
              <a:t>The result is therefore inconclusive. It is not evidence that ARIH1 does not bind LIMD1.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40 to 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project established a sequence-verified LIMD1 panel, regenerated full-length LIMD1 and showed construct-dependent expression and purification. It did not identify an ARIH1-binding region.</a:t>
            </a:r>
          </a:p>
          <a:p>
            <a:endParaRPr dirty="0"/>
          </a:p>
          <a:p>
            <a:r>
              <a:rPr dirty="0"/>
              <a:t>Next, intact protein should be confirmed and equal molar amounts of bead-bound LIMD1 </a:t>
            </a:r>
            <a:r>
              <a:rPr lang="en-GB" dirty="0"/>
              <a:t>should be </a:t>
            </a:r>
            <a:r>
              <a:rPr dirty="0"/>
              <a:t>compared. The pull-down should be repeated independently with bead-only and MBP-only controls.</a:t>
            </a:r>
          </a:p>
          <a:p>
            <a:endParaRPr dirty="0"/>
          </a:p>
          <a:p>
            <a:r>
              <a:rPr dirty="0"/>
              <a:t>Once full-length LIMD1 and ARIH1 association is reproduced, mapping can be repeated. Any candidate region should then be altered within full-length LIMD1 and tested in PD-L1 ubiquitination assays, linking the interaction to disease-relevant PD-L1 control.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Turkay, E. 2026, MSc dissertation, pages 42 to 47.</a:t>
            </a:r>
          </a:p>
          <a:p>
            <a:r>
              <a:rPr dirty="0"/>
              <a:t>Shah et al. 2026, Life Science Alliance, volume 9, issue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A346-21C8-432F-83E9-E7F3C8B73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6DBE2-6CC2-4EAA-BF4B-888741F07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5E88-49D7-4A4E-BAC0-AD5334A53C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ADFF8-44E9-47E9-9247-AB9D59D99E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E9780B-2BCF-414C-9350-C0B4CFDADE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2B167B"/>
          </a:solidFill>
          <a:ln w="9525">
            <a:noFill/>
          </a:ln>
        </p:spPr>
        <p:txBody>
          <a:bodyPr anchor="ctr"/>
          <a:lstStyle/>
          <a:p>
            <a:pPr algn="ctr">
              <a:buNone/>
            </a:pPr>
            <a:endParaRPr sz="4400" kern="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5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43663" y="188913"/>
            <a:ext cx="2484437" cy="431800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0634" y="106770"/>
            <a:ext cx="2476821" cy="10875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1F65-9AE2-4F1A-8CBC-2919F841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D202-712F-4EDE-BCD6-B30EE72A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2833A-66F8-491F-BE38-4FC9C4001E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72433" y="6308749"/>
            <a:ext cx="2895600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69E60-CF37-4552-99AB-94D23C2996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01433" y="6308749"/>
            <a:ext cx="2133600" cy="365125"/>
          </a:xfrm>
        </p:spPr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71F096-F656-46FF-A62B-CBC740DA604E}"/>
              </a:ext>
            </a:extLst>
          </p:cNvPr>
          <p:cNvSpPr>
            <a:spLocks noGrp="1"/>
          </p:cNvSpPr>
          <p:nvPr/>
        </p:nvSpPr>
        <p:spPr>
          <a:xfrm>
            <a:off x="6601433" y="6308749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B49869-74EB-4594-A2F9-71C35B96E7C2}"/>
              </a:ext>
            </a:extLst>
          </p:cNvPr>
          <p:cNvSpPr>
            <a:spLocks noGrp="1"/>
          </p:cNvSpPr>
          <p:nvPr/>
        </p:nvSpPr>
        <p:spPr>
          <a:xfrm>
            <a:off x="6948264" y="6308725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26FA69B-3CA7-4AFA-97B7-08092E192C23}"/>
              </a:ext>
            </a:extLst>
          </p:cNvPr>
          <p:cNvSpPr>
            <a:spLocks noGrp="1"/>
          </p:cNvSpPr>
          <p:nvPr/>
        </p:nvSpPr>
        <p:spPr>
          <a:xfrm>
            <a:off x="447906" y="6466041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21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8" y="6452770"/>
            <a:ext cx="288000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1CA3-08ED-49C0-BBC8-7113FCE2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1C036-EBA9-49E8-9BB2-944C07B68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E91F-0B85-4609-92F4-6B4ACB82E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03B26-6313-4373-BA5D-93E083B8E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BB6E98C-EC3B-4B09-8556-0495914387E8}"/>
              </a:ext>
            </a:extLst>
          </p:cNvPr>
          <p:cNvSpPr>
            <a:spLocks noGrp="1"/>
          </p:cNvSpPr>
          <p:nvPr/>
        </p:nvSpPr>
        <p:spPr>
          <a:xfrm>
            <a:off x="447906" y="6466041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03BC5-3213-43AC-B180-E61A0C230B01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  <p:pic>
        <p:nvPicPr>
          <p:cNvPr id="19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8" y="6452770"/>
            <a:ext cx="288000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CEC3-98D9-4EC5-BBEF-A81C311E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3851D-CAE1-4FB0-9738-091F6F159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222F7-64CB-4DA8-A26C-64A346273E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379E6-45B5-444C-91FC-F67A884ED4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12B6D-E7F8-4F55-9F14-1155F54249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80954E29-EC6D-43A6-A7D7-2FFB5380AE8F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1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886C45-DD7C-4779-BC26-AC1FDA00423F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698-3A1B-4171-B15E-BAD58880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430CA-45A8-4D35-BAA0-FD9BA211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CB51-5D8D-414E-9C98-2F4727CBE3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31DA4-90AC-40F7-8A6C-EF4DD31247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13D1B-EFBC-401D-A8B3-52D65416A19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C50E4-7FFD-4710-AE51-43FF7249CC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F6D51-9C7A-4B1F-A047-DDDE6FFEA0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D612D6E-D85E-47D6-A6C9-83ADD5DC7751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93115AA-1521-4D4F-9C2B-4D00F6FCA7BE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25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9A5B1E-E8D0-43D8-A6E5-32836D3460AB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E6FC-EB9C-4216-B1E5-7100B1D8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91677-D4F2-44AF-A7A3-3797335236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9E703-B8ED-403C-9E75-2B8467707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13471-2135-4F24-8464-13867D449F76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D673A80-FB9A-4375-A8DF-73C7A87CF45F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17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97006B-6193-4DA9-A791-20341BB1EBFA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76F77-2F78-4041-94FE-CE203A6AF4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34868-9E9A-45D4-A7A6-78AD6DF2E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0FE4EA4-17C9-4BBB-BF5F-EF460D4DB47B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53ACEB7-213E-41C1-AA8E-DE1E44587812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75D10F-B27C-494A-895A-D1E49F75D440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0421-C413-4E4A-804A-226FFE4C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1309-F8B7-4B3B-BF3E-CC6638397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>
                <a:solidFill>
                  <a:schemeClr val="bg1"/>
                </a:solidFill>
              </a:defRPr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E73CC-031C-4B27-9A7D-D3C24AE0CC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AA9D-16AF-49EE-9732-C5FD94C6FC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7ED1E-B875-47B4-A9DD-08B7FB65A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E0396E9-111B-4CED-A174-DFE9708EEC0F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7A7076-4261-4B11-9010-91CB46823784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F9278FA-C492-4D74-907A-4222EFE95889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A6C5-59D2-479F-A5CF-3994524A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FDE96-ED7C-41E3-98A7-0C6E8882F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9BC45-4DD9-4783-988A-039E8868DA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43D2E-864B-47ED-AE4F-32CF90123C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7C8AC-84B6-437C-A119-042E1CE81B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D61A105-4581-49B0-9917-854AC9BAF66C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3584298-5D59-4136-950C-A671677B633A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87E62B-0105-42D5-83D3-1DC72D8A5764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8F61-3625-4378-B436-CF7105BA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2614-3EA4-40D8-85AA-E7B2DCEF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C3A1B-8122-4C6D-9046-BAE36AA8FA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6CDFE-B3AB-410E-94B0-4362782ABC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7AC009E-7693-4734-A9A7-68300742DCC2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E5FD8A2-F69F-4194-A4FF-8BD92C6D7BDE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93EB8F-2BB3-489B-95BF-48D2B1C7D9BE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4D23A-B367-42EB-8B31-B7647BF7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CA0C8-CBAF-4B86-B376-DF5225CFA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9A01E-8035-4776-A9C4-A066153EDC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A8D6-DC9E-4100-8637-554842F3A8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3E91E33-6D24-4303-A0AC-1ED4C5161057}"/>
              </a:ext>
            </a:extLst>
          </p:cNvPr>
          <p:cNvSpPr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DD38A03-5AB8-427E-B45B-08E4B7923151}"/>
              </a:ext>
            </a:extLst>
          </p:cNvPr>
          <p:cNvSpPr>
            <a:spLocks noGrp="1"/>
          </p:cNvSpPr>
          <p:nvPr/>
        </p:nvSpPr>
        <p:spPr>
          <a:xfrm>
            <a:off x="496139" y="6418440"/>
            <a:ext cx="867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rgbClr val="2C177B"/>
                </a:solidFill>
              </a:rPr>
              <a:t>@QMBCI</a:t>
            </a:r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1" y="6405169"/>
            <a:ext cx="288000" cy="28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F9592A-E2A9-4355-B071-74618BC88DAB}"/>
              </a:ext>
            </a:extLst>
          </p:cNvPr>
          <p:cNvSpPr>
            <a:spLocks noGrp="1"/>
          </p:cNvSpPr>
          <p:nvPr/>
        </p:nvSpPr>
        <p:spPr>
          <a:xfrm>
            <a:off x="6900031" y="6356326"/>
            <a:ext cx="1428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2B167B"/>
                </a:solidFill>
              </a:rPr>
              <a:t>bci.qmul.ac.uk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5190D-68AD-4CFF-B2A4-2131C94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7CE78-7338-4592-9D87-12F3B80A9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311A2-670D-435B-9CBB-38904442D2D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79DC-9F9E-4BC0-A35E-BABCE37C269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88615-BECD-4EE4-814A-0028DD761427}" type="slidenum">
              <a:t>‹#›</a:t>
            </a:fld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6A6E3EE-79B8-42DF-83F8-C722853940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2B167B"/>
          </a:solidFill>
          <a:ln w="9525">
            <a:noFill/>
          </a:ln>
        </p:spPr>
        <p:txBody>
          <a:bodyPr anchor="ctr"/>
          <a:lstStyle/>
          <a:p>
            <a:pPr algn="ctr">
              <a:buNone/>
            </a:pPr>
            <a:endParaRPr sz="4400" kern="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Box 10">
            <a:extLst>
              <a:ext uri="{FF2B5EF4-FFF2-40B4-BE49-F238E27FC236}">
                <a16:creationId xmlns:a16="http://schemas.microsoft.com/office/drawing/2014/main" id="{15E85974-750E-4604-918E-A765614C3194}"/>
              </a:ext>
            </a:extLst>
          </p:cNvPr>
          <p:cNvSpPr>
            <a:spLocks noGrp="1"/>
          </p:cNvSpPr>
          <p:nvPr/>
        </p:nvSpPr>
        <p:spPr>
          <a:xfrm>
            <a:off x="0" y="1380363"/>
            <a:ext cx="9144000" cy="3970306"/>
          </a:xfrm>
          <a:prstGeom prst="rect">
            <a:avLst/>
          </a:prstGeom>
          <a:solidFill>
            <a:srgbClr val="FDFEFD"/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3200" b="1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Mapping the LIMD1-ARIH1 Interaction with Recombinant LIMD1 Truncations</a:t>
            </a:r>
          </a:p>
          <a:p>
            <a:pPr>
              <a:buNone/>
            </a:pPr>
            <a:r>
              <a:rPr sz="2400" b="1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Eylul Turkay</a:t>
            </a:r>
          </a:p>
          <a:p>
            <a:endParaRPr sz="2400" b="1" dirty="0">
              <a:solidFill>
                <a:srgbClr val="2B167B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sz="1600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MSc Cancer and Molecular and Cellular Biology</a:t>
            </a:r>
          </a:p>
          <a:p>
            <a:pPr>
              <a:buNone/>
            </a:pPr>
            <a:r>
              <a:rPr sz="1600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Barts Cancer Institute</a:t>
            </a:r>
          </a:p>
          <a:p>
            <a:pPr>
              <a:buNone/>
            </a:pPr>
            <a:r>
              <a:rPr sz="1600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Queen Mary University of London</a:t>
            </a:r>
          </a:p>
          <a:p>
            <a:endParaRPr sz="1600" dirty="0">
              <a:solidFill>
                <a:srgbClr val="2B167B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sz="1600" dirty="0">
                <a:solidFill>
                  <a:srgbClr val="2B167B"/>
                </a:solidFill>
                <a:latin typeface="Calibri"/>
                <a:ea typeface="Calibri"/>
                <a:cs typeface="Calibri"/>
              </a:rPr>
              <a:t>Supervisors: Professor Dr Tyson V. Sharp and Dr Kunal Shah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D11B052-BEFF-4CB5-A460-E5DF059C2C16}"/>
              </a:ext>
            </a:extLst>
          </p:cNvPr>
          <p:cNvSpPr>
            <a:spLocks noGrp="1"/>
          </p:cNvSpPr>
          <p:nvPr/>
        </p:nvSpPr>
        <p:spPr>
          <a:xfrm>
            <a:off x="6464050" y="836712"/>
            <a:ext cx="86748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400">
                <a:solidFill>
                  <a:schemeClr val="bg1"/>
                </a:solidFill>
              </a:rPr>
              <a:t>@QMBCI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83312-B244-46CE-A95D-B234AEFED20C}"/>
              </a:ext>
            </a:extLst>
          </p:cNvPr>
          <p:cNvSpPr>
            <a:spLocks noGrp="1"/>
          </p:cNvSpPr>
          <p:nvPr/>
        </p:nvSpPr>
        <p:spPr>
          <a:xfrm>
            <a:off x="7567396" y="863962"/>
            <a:ext cx="1560687" cy="2778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sz="1200">
                <a:solidFill>
                  <a:schemeClr val="bg1"/>
                </a:solidFill>
              </a:rPr>
              <a:t>bartscancerinstitute</a:t>
            </a:r>
          </a:p>
        </p:txBody>
      </p:sp>
      <p:pic>
        <p:nvPicPr>
          <p:cNvPr id="718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63" y="843684"/>
            <a:ext cx="288000" cy="288000"/>
          </a:xfrm>
          <a:prstGeom prst="rect">
            <a:avLst/>
          </a:prstGeom>
        </p:spPr>
      </p:pic>
      <p:pic>
        <p:nvPicPr>
          <p:cNvPr id="718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84" y="846227"/>
            <a:ext cx="288000" cy="288000"/>
          </a:xfrm>
          <a:prstGeom prst="rect">
            <a:avLst/>
          </a:prstGeom>
        </p:spPr>
      </p:pic>
      <p:pic>
        <p:nvPicPr>
          <p:cNvPr id="7182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9270"/>
            <a:ext cx="9144000" cy="126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0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Background</a:t>
            </a:r>
          </a:p>
          <a:p>
            <a:pPr>
              <a:buNone/>
            </a:pP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LIMD1 loss </a:t>
            </a:r>
            <a:r>
              <a:rPr sz="2800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stabilises</a:t>
            </a: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PD-L1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A89D2-EF87-95EA-3230-1D17A348C9A8}"/>
              </a:ext>
            </a:extLst>
          </p:cNvPr>
          <p:cNvSpPr>
            <a:spLocks noGrp="1"/>
          </p:cNvSpPr>
          <p:nvPr/>
        </p:nvSpPr>
        <p:spPr>
          <a:xfrm>
            <a:off x="2626349" y="6169693"/>
            <a:ext cx="3531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LIMD1-ARIH1 supports PD-L1 turnover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1A61A-FFBA-B5C4-CBEE-487D0A711577}"/>
              </a:ext>
            </a:extLst>
          </p:cNvPr>
          <p:cNvSpPr>
            <a:spLocks noGrp="1"/>
          </p:cNvSpPr>
          <p:nvPr/>
        </p:nvSpPr>
        <p:spPr>
          <a:xfrm>
            <a:off x="3163044" y="3254768"/>
            <a:ext cx="3065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LIMD1: 676-aa scaffold protein</a:t>
            </a:r>
          </a:p>
        </p:txBody>
      </p:sp>
      <p:pic>
        <p:nvPicPr>
          <p:cNvPr id="12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551" y="1236687"/>
            <a:ext cx="4808220" cy="1999880"/>
          </a:xfrm>
          <a:prstGeom prst="rect">
            <a:avLst/>
          </a:prstGeom>
        </p:spPr>
      </p:pic>
      <p:pic>
        <p:nvPicPr>
          <p:cNvPr id="13" name="Resim 6"/>
          <p:cNvPicPr>
            <a:picLocks noChangeAspect="1"/>
          </p:cNvPicPr>
          <p:nvPr/>
        </p:nvPicPr>
        <p:blipFill rotWithShape="1">
          <a:blip r:embed="rId4"/>
          <a:srcRect l="2674" t="4260"/>
          <a:stretch/>
        </p:blipFill>
        <p:spPr>
          <a:xfrm>
            <a:off x="695325" y="3641467"/>
            <a:ext cx="7393139" cy="252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9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CF045-F460-ECBA-2EC0-76A31817A90F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LIMD1 region required for ARIH1 binding remains unresolved</a:t>
            </a:r>
          </a:p>
        </p:txBody>
      </p:sp>
      <p:pic>
        <p:nvPicPr>
          <p:cNvPr id="5" name="Resim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128" y="1426755"/>
            <a:ext cx="8300657" cy="45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2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ECD36-26EB-BB7F-475D-3684AEA2AF6F}"/>
              </a:ext>
            </a:extLst>
          </p:cNvPr>
          <p:cNvSpPr>
            <a:spLocks noGrp="1"/>
          </p:cNvSpPr>
          <p:nvPr/>
        </p:nvSpPr>
        <p:spPr>
          <a:xfrm>
            <a:off x="2324100" y="0"/>
            <a:ext cx="876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4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Aims and Hypothesis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BE492-13DC-8DA6-15DF-2111887D9C50}"/>
              </a:ext>
            </a:extLst>
          </p:cNvPr>
          <p:cNvSpPr>
            <a:spLocks noGrp="1"/>
          </p:cNvSpPr>
          <p:nvPr/>
        </p:nvSpPr>
        <p:spPr>
          <a:xfrm>
            <a:off x="742950" y="4414095"/>
            <a:ext cx="7658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ARIH1 binds a defined region of LIMD1.</a:t>
            </a:r>
          </a:p>
          <a:p>
            <a:pPr>
              <a:buNone/>
              <a:defRPr sz="16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Deleting that region will reduce or abolish ARIH1 recovery in LIMD1-directed pull-downs.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D520D98-9D5D-446E-B028-44D018BC633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Resim 17"/>
          <p:cNvPicPr>
            <a:picLocks noChangeAspect="1"/>
          </p:cNvPicPr>
          <p:nvPr/>
        </p:nvPicPr>
        <p:blipFill>
          <a:blip r:embed="rId3"/>
          <a:srcRect l="1352" t="8550" b="8801"/>
          <a:stretch>
            <a:fillRect/>
          </a:stretch>
        </p:blipFill>
        <p:spPr>
          <a:xfrm>
            <a:off x="666750" y="1258965"/>
            <a:ext cx="7734300" cy="3074504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0EC8A64A-45B1-B5E8-D747-45A7BE56CA32}"/>
              </a:ext>
            </a:extLst>
          </p:cNvPr>
          <p:cNvSpPr>
            <a:spLocks noGrp="1"/>
          </p:cNvSpPr>
          <p:nvPr/>
        </p:nvSpPr>
        <p:spPr>
          <a:xfrm>
            <a:off x="742950" y="4998870"/>
            <a:ext cx="723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Aim 1: Validate the LIMD1 construct panel.</a:t>
            </a:r>
          </a:p>
          <a:p>
            <a:pPr algn="l">
              <a:buNone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Aim 2: </a:t>
            </a:r>
            <a:r>
              <a:rPr sz="1800" b="0" u="none" dirty="0" err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Optimise</a:t>
            </a:r>
            <a:r>
              <a:rPr sz="1800"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expression and purification to recover comparable, intact bait.</a:t>
            </a:r>
          </a:p>
          <a:p>
            <a:pPr algn="l">
              <a:buNone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Aim 3: Compare ARIH1 recovery across suitable LIMD1 truncations.</a:t>
            </a:r>
          </a:p>
        </p:txBody>
      </p:sp>
    </p:spTree>
    <p:extLst>
      <p:ext uri="{BB962C8B-B14F-4D97-AF65-F5344CB8AC3E}">
        <p14:creationId xmlns:p14="http://schemas.microsoft.com/office/powerpoint/2010/main" val="304767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Methods</a:t>
            </a:r>
            <a:endParaRPr sz="280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Experimental workflow</a:t>
            </a:r>
          </a:p>
        </p:txBody>
      </p:sp>
      <p:pic>
        <p:nvPicPr>
          <p:cNvPr id="5" name="Resim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959" y="1273334"/>
            <a:ext cx="7633716" cy="50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0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52400" y="49575"/>
            <a:ext cx="85344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4000" dirty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Results</a:t>
            </a:r>
            <a:endParaRPr lang="en-GB" sz="4000" dirty="0">
              <a:solidFill>
                <a:schemeClr val="bg1"/>
              </a:solidFill>
              <a:latin typeface="+mj-lt"/>
              <a:ea typeface="+mj-lt"/>
              <a:cs typeface="+mj-l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2800" u="sng" dirty="0">
                <a:solidFill>
                  <a:schemeClr val="bg1"/>
                </a:solidFill>
              </a:rPr>
              <a:t>Tagged LIMD1 expression showed variable band patterns</a:t>
            </a:r>
            <a:endParaRPr sz="2800" u="sng" dirty="0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7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285875"/>
            <a:ext cx="2719290" cy="5225501"/>
          </a:xfrm>
          <a:prstGeom prst="rect">
            <a:avLst/>
          </a:prstGeom>
        </p:spPr>
      </p:pic>
      <p:pic>
        <p:nvPicPr>
          <p:cNvPr id="8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945" y="1192575"/>
            <a:ext cx="3515473" cy="3642538"/>
          </a:xfrm>
          <a:prstGeom prst="rect">
            <a:avLst/>
          </a:prstGeom>
        </p:spPr>
      </p:pic>
      <p:pic>
        <p:nvPicPr>
          <p:cNvPr id="9" name="Resim 6"/>
          <p:cNvPicPr>
            <a:picLocks noChangeAspect="1"/>
          </p:cNvPicPr>
          <p:nvPr/>
        </p:nvPicPr>
        <p:blipFill>
          <a:blip r:embed="rId5"/>
          <a:srcRect b="1650"/>
          <a:stretch>
            <a:fillRect/>
          </a:stretch>
        </p:blipFill>
        <p:spPr>
          <a:xfrm>
            <a:off x="3725439" y="4705350"/>
            <a:ext cx="3207206" cy="20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26422CA4-C306-E0CA-8374-3125602318D6}"/>
              </a:ext>
            </a:extLst>
          </p:cNvPr>
          <p:cNvSpPr>
            <a:spLocks noGrp="1"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sz="2800" u="sng" dirty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Full-length LIMD1 migrated near 117 kDa; Construct 5 predominantly migrated below 55 kDa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A5233-0B65-2A86-D1BB-C94DC42DF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819" y="1163320"/>
            <a:ext cx="4263462" cy="54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5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CF045-F460-ECBA-2EC0-76A31817A90F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Sonication increased elution recovery, but tagged protein remained unbound</a:t>
            </a:r>
          </a:p>
        </p:txBody>
      </p:sp>
      <p:pic>
        <p:nvPicPr>
          <p:cNvPr id="6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812" y="1148095"/>
            <a:ext cx="4504735" cy="56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2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25"/>
          <p:cNvPicPr>
            <a:picLocks noChangeAspect="1"/>
          </p:cNvPicPr>
          <p:nvPr/>
        </p:nvPicPr>
        <p:blipFill>
          <a:blip r:embed="rId3"/>
          <a:srcRect t="926"/>
          <a:stretch>
            <a:fillRect/>
          </a:stretch>
        </p:blipFill>
        <p:spPr>
          <a:xfrm>
            <a:off x="2095501" y="1209040"/>
            <a:ext cx="4510936" cy="5527040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41016761-2F42-85D9-738F-679DCC3D0630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Constructs 2 and 3 showed weak elution recovery after Ni-NTA purification</a:t>
            </a:r>
          </a:p>
        </p:txBody>
      </p:sp>
    </p:spTree>
    <p:extLst>
      <p:ext uri="{BB962C8B-B14F-4D97-AF65-F5344CB8AC3E}">
        <p14:creationId xmlns:p14="http://schemas.microsoft.com/office/powerpoint/2010/main" val="141158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3"/>
          <p:cNvPicPr>
            <a:picLocks noChangeAspect="1"/>
          </p:cNvPicPr>
          <p:nvPr/>
        </p:nvPicPr>
        <p:blipFill rotWithShape="1">
          <a:blip r:embed="rId3"/>
          <a:srcRect t="888" r="983" b="2012"/>
          <a:stretch/>
        </p:blipFill>
        <p:spPr>
          <a:xfrm>
            <a:off x="1033097" y="1341754"/>
            <a:ext cx="5036726" cy="5361678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37D487CD-D4CA-C690-4D53-01F5AA0AE675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Constructs 8–10 were recovered in elution, whereas
Construct 7 recovery was weak</a:t>
            </a:r>
          </a:p>
        </p:txBody>
      </p:sp>
      <p:graphicFrame>
        <p:nvGraphicFramePr>
          <p:cNvPr id="8" name="Table 4"/>
          <p:cNvGraphicFramePr/>
          <p:nvPr>
            <p:extLst>
              <p:ext uri="{D42A27DB-BD31-4B8C-83A1-F6EECF244321}">
                <p14:modId xmlns:p14="http://schemas.microsoft.com/office/powerpoint/2010/main" val="3509444704"/>
              </p:ext>
            </p:extLst>
          </p:nvPr>
        </p:nvGraphicFramePr>
        <p:xfrm>
          <a:off x="6472065" y="2768600"/>
          <a:ext cx="1994438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Construct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dirty="0"/>
                        <a:t>Expected mass (kDa)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66.6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59.7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dirty="0"/>
                        <a:t>50.3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dirty="0"/>
                        <a:t>50.2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18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Magnetic nickel beads recovered the core baits with unequal yields</a:t>
            </a:r>
          </a:p>
        </p:txBody>
      </p:sp>
      <p:pic>
        <p:nvPicPr>
          <p:cNvPr id="6" name="Resim 7"/>
          <p:cNvPicPr>
            <a:picLocks noChangeAspect="1"/>
          </p:cNvPicPr>
          <p:nvPr/>
        </p:nvPicPr>
        <p:blipFill rotWithShape="1">
          <a:blip r:embed="rId3"/>
          <a:srcRect t="-244" b="2872"/>
          <a:stretch>
            <a:fillRect/>
          </a:stretch>
        </p:blipFill>
        <p:spPr>
          <a:xfrm>
            <a:off x="428625" y="1285875"/>
            <a:ext cx="3638550" cy="5000625"/>
          </a:xfrm>
          <a:prstGeom prst="rect">
            <a:avLst/>
          </a:prstGeom>
        </p:spPr>
      </p:pic>
      <p:pic>
        <p:nvPicPr>
          <p:cNvPr id="7" name="Resim 15"/>
          <p:cNvPicPr>
            <a:picLocks noChangeAspect="1"/>
          </p:cNvPicPr>
          <p:nvPr/>
        </p:nvPicPr>
        <p:blipFill rotWithShape="1">
          <a:blip r:embed="rId4"/>
          <a:srcRect b="2239"/>
          <a:stretch/>
        </p:blipFill>
        <p:spPr>
          <a:xfrm>
            <a:off x="4762500" y="1285875"/>
            <a:ext cx="38100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13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 17 was detected before purification but not in the recovered fraction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86AF9E8-4A3D-4DD7-A2F5-FBA66928C13D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014" y="1168711"/>
            <a:ext cx="4376186" cy="564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4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CF045-F460-ECBA-2EC0-76A31817A90F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Equal elution volumes would not provide equal amounts of intact LIMD1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E2E3011-307D-4DD6-A32B-E2A6CB25E7B6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rcRect l="3257" t="3849"/>
          <a:stretch>
            <a:fillRect/>
          </a:stretch>
        </p:blipFill>
        <p:spPr>
          <a:xfrm>
            <a:off x="4356615" y="2010647"/>
            <a:ext cx="4662505" cy="3221456"/>
          </a:xfrm>
          <a:prstGeom prst="rect">
            <a:avLst/>
          </a:prstGeom>
        </p:spPr>
      </p:pic>
      <p:pic>
        <p:nvPicPr>
          <p:cNvPr id="10" name="Picture 8"/>
          <p:cNvPicPr>
            <a:picLocks noChangeAspect="1"/>
          </p:cNvPicPr>
          <p:nvPr/>
        </p:nvPicPr>
        <p:blipFill>
          <a:blip r:embed="rId4"/>
          <a:srcRect l="3149"/>
          <a:stretch>
            <a:fillRect/>
          </a:stretch>
        </p:blipFill>
        <p:spPr>
          <a:xfrm>
            <a:off x="29307" y="1897211"/>
            <a:ext cx="4294288" cy="340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2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800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ARIH1 signals overlapped with bead background, while bait recovery differed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E41355E-C55B-4639-97BA-0825EB4E049A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Resim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332304"/>
            <a:ext cx="4328535" cy="4840644"/>
          </a:xfrm>
          <a:prstGeom prst="rect">
            <a:avLst/>
          </a:prstGeom>
        </p:spPr>
      </p:pic>
      <p:pic>
        <p:nvPicPr>
          <p:cNvPr id="13" name="Resim 23"/>
          <p:cNvPicPr>
            <a:picLocks noChangeAspect="1"/>
          </p:cNvPicPr>
          <p:nvPr/>
        </p:nvPicPr>
        <p:blipFill rotWithShape="1">
          <a:blip r:embed="rId4"/>
          <a:srcRect b="3406"/>
          <a:stretch/>
        </p:blipFill>
        <p:spPr>
          <a:xfrm>
            <a:off x="4572000" y="1332304"/>
            <a:ext cx="4413887" cy="484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6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ECD36-26EB-BB7F-475D-3684AEA2AF6F}"/>
              </a:ext>
            </a:extLst>
          </p:cNvPr>
          <p:cNvSpPr>
            <a:spLocks noGrp="1"/>
          </p:cNvSpPr>
          <p:nvPr/>
        </p:nvSpPr>
        <p:spPr>
          <a:xfrm>
            <a:off x="190500" y="47625"/>
            <a:ext cx="8763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Discussion</a:t>
            </a:r>
          </a:p>
          <a:p>
            <a:pPr>
              <a:buNone/>
            </a:pPr>
            <a:r>
              <a:rPr sz="2800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the mapping result was inconclusive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AEB7248-0E61-4534-AE2B-459AFD712C5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Resi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900" y="1434465"/>
            <a:ext cx="84582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73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27332-CDAC-5B81-BA43-16C8742BA0D9}"/>
              </a:ext>
            </a:extLst>
          </p:cNvPr>
          <p:cNvSpPr>
            <a:spLocks noGrp="1"/>
          </p:cNvSpPr>
          <p:nvPr/>
        </p:nvSpPr>
        <p:spPr>
          <a:xfrm>
            <a:off x="190500" y="295275"/>
            <a:ext cx="876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and Future Directions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919DF-4D08-EA96-AD8C-E0C049037261}"/>
              </a:ext>
            </a:extLst>
          </p:cNvPr>
          <p:cNvSpPr>
            <a:spLocks noGrp="1"/>
          </p:cNvSpPr>
          <p:nvPr/>
        </p:nvSpPr>
        <p:spPr>
          <a:xfrm>
            <a:off x="569407" y="1602695"/>
            <a:ext cx="65077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ESTABLISHED
• Sequence-verified LIMD1 truncation platform
• Construct-dependent purification established
• Full-length and selected fragments recovered
NOT ESTABLISHED
• No ARIH1-, AGO2- or PGAM5-binding region assigned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1C93-78BE-420C-40AC-17A8F63FD79C}"/>
              </a:ext>
            </a:extLst>
          </p:cNvPr>
          <p:cNvSpPr>
            <a:spLocks noGrp="1"/>
          </p:cNvSpPr>
          <p:nvPr/>
        </p:nvSpPr>
        <p:spPr>
          <a:xfrm>
            <a:off x="581705" y="3634020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FUTURE DIRECTIONS</a:t>
            </a:r>
            <a:r>
              <a:rPr b="0" u="none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
1. Confirm intact protein and molar-match bead-bound bait.
2. Add bead-only and MBP-only controls; repeat independently.
3. Reproduce full-length LIMD1-ARIH1 binding.
4. Test candidate deletions in PD-L1 ubiquitination assays.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263DF57-6A2F-499A-86AB-323FEE293D7A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66800" cy="2190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9276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3103</TotalTime>
  <Words>2003</Words>
  <Application>Microsoft Office PowerPoint</Application>
  <DocSecurity>0</DocSecurity>
  <PresentationFormat>On-screen Show (4:3)</PresentationFormat>
  <Paragraphs>200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Eylul Turkay</cp:lastModifiedBy>
  <cp:revision>1</cp:revision>
  <dcterms:created xsi:type="dcterms:W3CDTF">2026-09-05T19:02:45Z</dcterms:created>
  <dcterms:modified xsi:type="dcterms:W3CDTF">2026-09-09T14:43:39Z</dcterms:modified>
</cp:coreProperties>
</file>